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Predicción de popularidad musical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996696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100" b="0">
                <a:solidFill>
                  <a:srgbClr val="D6E5FA"/>
                </a:solidFill>
                <a:latin typeface="Aptos"/>
              </a:rPr>
              <a:t>Modelado, selección y resultados finales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88920"/>
            <a:ext cx="29718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269748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Modelo final reproducible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82112"/>
            <a:ext cx="26974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8A745"/>
                </a:solidFill>
                <a:latin typeface="Aptos"/>
              </a:rPr>
              <a:t>0,39740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30168"/>
            <a:ext cx="269748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R2 público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788920"/>
            <a:ext cx="29718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98648"/>
            <a:ext cx="269748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Baseline CatBoost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82112"/>
            <a:ext cx="26974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0B7DA"/>
                </a:solidFill>
                <a:latin typeface="Aptos"/>
              </a:rPr>
              <a:t>0,36930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630168"/>
            <a:ext cx="269748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R2 público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788920"/>
            <a:ext cx="29718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898648"/>
            <a:ext cx="269748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Mejor competencia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82112"/>
            <a:ext cx="26974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9F40"/>
                </a:solidFill>
                <a:latin typeface="Aptos"/>
              </a:rPr>
              <a:t>0,46155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30168"/>
            <a:ext cx="269748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Optimización leaderboard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06440"/>
            <a:ext cx="100126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500" b="0">
                <a:solidFill>
                  <a:srgbClr val="DCE6F5"/>
                </a:solidFill>
                <a:latin typeface="Aptos"/>
              </a:rPr>
              <a:t>Entrega principal: pipeline reproducible. Resultado adicional: optimización competitiva.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Problema y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868680"/>
            <a:ext cx="233172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78407"/>
            <a:ext cx="2057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0574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462BF"/>
                </a:solidFill>
                <a:latin typeface="Aptos"/>
              </a:rPr>
              <a:t>Regresión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2057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predecir track_popularity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868680"/>
            <a:ext cx="233172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978407"/>
            <a:ext cx="2057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261872"/>
            <a:ext cx="20574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462BF"/>
                </a:solidFill>
                <a:latin typeface="Aptos"/>
              </a:rPr>
              <a:t>26.266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709928"/>
            <a:ext cx="2057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filas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868680"/>
            <a:ext cx="233172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978407"/>
            <a:ext cx="2057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261872"/>
            <a:ext cx="20574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462BF"/>
                </a:solidFill>
                <a:latin typeface="Aptos"/>
              </a:rPr>
              <a:t>6.567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09928"/>
            <a:ext cx="2057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filas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868680"/>
            <a:ext cx="233172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978407"/>
            <a:ext cx="2057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Métrica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261872"/>
            <a:ext cx="20574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462BF"/>
                </a:solidFill>
                <a:latin typeface="Aptos"/>
              </a:rP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09928"/>
            <a:ext cx="2057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leaderboard público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057400"/>
            <a:ext cx="5394960" cy="324612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da_shift_generos_train_test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7417"/>
            <a:ext cx="5029200" cy="282892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63640" y="2057400"/>
            <a:ext cx="5394960" cy="324612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da_popularidad_subgenero_can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97417"/>
            <a:ext cx="5029200" cy="2828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5715000"/>
            <a:ext cx="1065276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500" b="1">
                <a:solidFill>
                  <a:srgbClr val="232D3C"/>
                </a:solidFill>
                <a:latin typeface="Aptos"/>
              </a:rPr>
              <a:t>Punto clave: train y test no tenían la misma composición. Por eso la validación interna no alcanzaba para elegir el mejor submit.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Modelo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166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0A1F44"/>
                </a:solidFill>
                <a:latin typeface="Aptos"/>
              </a:rPr>
              <a:t>Baseline: CatBoost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5166360" cy="274320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32D3C"/>
                </a:solidFill>
                <a:latin typeface="Aptos"/>
              </a:defRPr>
            </a:pPr>
            <a:r>
              <a:t>Modelo rápido para tener una primera vara competitiva.</a:t>
            </a:r>
          </a:p>
          <a:p>
            <a:pPr>
              <a:spcAft>
                <a:spcPts val="500"/>
              </a:spcAft>
              <a:defRPr sz="1550">
                <a:solidFill>
                  <a:srgbClr val="232D3C"/>
                </a:solidFill>
                <a:latin typeface="Aptos"/>
              </a:defRPr>
            </a:pPr>
            <a:r>
              <a:t>Usó 157 features procesadas: audio, fechas, duración, frecuencias, target encoding OOF y contexto.</a:t>
            </a:r>
          </a:p>
          <a:p>
            <a:pPr>
              <a:spcAft>
                <a:spcPts val="500"/>
              </a:spcAft>
              <a:defRPr sz="1550">
                <a:solidFill>
                  <a:srgbClr val="232D3C"/>
                </a:solidFill>
                <a:latin typeface="Aptos"/>
              </a:defRPr>
            </a:pPr>
            <a:r>
              <a:t>Categóricas directas: género, subgénero, key, mode, key_mode y genre_subgenre.</a:t>
            </a:r>
          </a:p>
          <a:p>
            <a:pPr>
              <a:spcAft>
                <a:spcPts val="500"/>
              </a:spcAft>
              <a:defRPr sz="1550">
                <a:solidFill>
                  <a:srgbClr val="232D3C"/>
                </a:solidFill>
                <a:latin typeface="Aptos"/>
              </a:defRPr>
            </a:pPr>
            <a:r>
              <a:t>Validación: GroupKFold por track_id para evitar leakage.</a:t>
            </a:r>
          </a:p>
          <a:p>
            <a:pPr>
              <a:spcAft>
                <a:spcPts val="500"/>
              </a:spcAft>
              <a:defRPr sz="1550">
                <a:solidFill>
                  <a:srgbClr val="232D3C"/>
                </a:solidFill>
                <a:latin typeface="Aptos"/>
              </a:defRPr>
            </a:pPr>
            <a:r>
              <a:t>Lookup para 800 canciones del test ya vistas en train.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914400"/>
            <a:ext cx="5303520" cy="333756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seline_catboost_brecha_generalizacion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47976"/>
            <a:ext cx="4937760" cy="27789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4892040"/>
            <a:ext cx="22402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01768"/>
            <a:ext cx="19659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OOF 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85231"/>
            <a:ext cx="196596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0B7DA"/>
                </a:solidFill>
                <a:latin typeface="Aptos"/>
              </a:rPr>
              <a:t>0,6520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33288"/>
            <a:ext cx="19659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validación interna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892040"/>
            <a:ext cx="22402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5001768"/>
            <a:ext cx="19659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Público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5285231"/>
            <a:ext cx="196596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8A745"/>
                </a:solidFill>
                <a:latin typeface="Aptos"/>
              </a:rPr>
              <a:t>0,36930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5733288"/>
            <a:ext cx="19659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catboost_best_submit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4892040"/>
            <a:ext cx="22402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5001768"/>
            <a:ext cx="19659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RMSE 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285231"/>
            <a:ext cx="196596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462BF"/>
                </a:solidFill>
                <a:latin typeface="Aptos"/>
              </a:rPr>
              <a:t>14,743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733288"/>
            <a:ext cx="19659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GroupKFold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92040"/>
            <a:ext cx="224028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5001768"/>
            <a:ext cx="19659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285231"/>
            <a:ext cx="196596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9F40"/>
                </a:solidFill>
                <a:latin typeface="Aptos"/>
              </a:rPr>
              <a:t>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733288"/>
            <a:ext cx="196596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filas protegidas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Features y preparación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5669280" cy="379476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ature_engineering_variables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3652"/>
            <a:ext cx="5303520" cy="2984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960120"/>
            <a:ext cx="5212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A1F44"/>
                </a:solidFill>
                <a:latin typeface="Aptos"/>
              </a:rPr>
              <a:t>La señal no estaba en una sola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44752"/>
            <a:ext cx="4983480" cy="324612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Audio: danceability, energy, valence, tempo y loudness.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Tiempo: año, mes, década, antigüedad y fecha parcial.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Contexto: playlist, género, subgénero, artista y álbum.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Frecuencias para manejar categorías nuevas.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Target encoding OOF para reducir leakage.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Lookup de track_id para canciones ya observadas.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1">
                <a:solidFill>
                  <a:srgbClr val="232D3C"/>
                </a:solidFill>
                <a:latin typeface="Aptos"/>
              </a:rPr>
              <a:t>Idea central: combinar señal musical, contexto y robustez frente a categorías no vistas.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Selección de modelos: qué se probó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1109960" cy="507492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meline_todos_submits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340" y="1024128"/>
            <a:ext cx="8290559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080760"/>
            <a:ext cx="104698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450" b="1">
                <a:solidFill>
                  <a:srgbClr val="232D3C"/>
                </a:solidFill>
                <a:latin typeface="Aptos"/>
              </a:rPr>
              <a:t>El gráfico resume la secuencia real: modelos base, feature selection, postprocesos, ExtraTrees, reglas por subgénero y probes de leaderboard.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Estrategia de evaluación y búsqueda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3492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A1F44"/>
                </a:solidFill>
                <a:latin typeface="Aptos"/>
              </a:rPr>
              <a:t>Cómo se decidió qué 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12080" cy="416052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GroupKFold por track_id para comparar sin leakage.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Leaderboard público como diagnóstico externo del drift.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Cambios graduales: una hipótesis por vez.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Registro de cada submit con nombre exacto y R2 público.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1206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A1F44"/>
                </a:solidFill>
                <a:latin typeface="Aptos"/>
              </a:rPr>
              <a:t>Familias probadas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983480" cy="438912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CatBoost base y variantes con/sin target encoding.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CatBoost top 60, top 90 y top 120.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Ajustes de hiperparámetros y postprocesos.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LightGBM y ExtraTrees para diversidad.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Ensambles por ranking para preservar distribución.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Reglas localizadas por subgénero.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Probes de leaderboard como experimento final.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Modelo final seleccionado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100" b="1">
                <a:solidFill>
                  <a:srgbClr val="0A1F44"/>
                </a:solidFill>
                <a:latin typeface="Aptos"/>
              </a:rPr>
              <a:t>Pipeline reproducible: CatBoost + ExtraTrees + postprocesamiento determinístico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231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214884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Submit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214884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8A745"/>
                </a:solidFill>
                <a:latin typeface="Aptos"/>
              </a:rPr>
              <a:t>0,39740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214884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R2 público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4231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27048"/>
            <a:ext cx="214884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CatBoost top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10512"/>
            <a:ext cx="214884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462BF"/>
                </a:solidFill>
                <a:latin typeface="Aptos"/>
              </a:rPr>
              <a:t>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58568"/>
            <a:ext cx="214884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features finales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417320"/>
            <a:ext cx="24231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27048"/>
            <a:ext cx="214884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ExtraTrees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10512"/>
            <a:ext cx="214884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0B7DA"/>
                </a:solidFill>
                <a:latin typeface="Aptos"/>
              </a:rPr>
              <a:t>45/70/100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58568"/>
            <a:ext cx="214884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features numéricas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417320"/>
            <a:ext cx="242316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527048"/>
            <a:ext cx="214884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810512"/>
            <a:ext cx="214884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9F40"/>
                </a:solidFill>
                <a:latin typeface="Aptos"/>
              </a:rPr>
              <a:t>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258568"/>
            <a:ext cx="214884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canciones vistas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260604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CatBoost top 60 fue el mejor modelo puro público.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ExtraTrees aportó un ranking complementario en filas no vistas.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El ensamble preservó la distribución del mejor submit.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Las reglas finales ajustaron neo soul y progressive electro house.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743200"/>
            <a:ext cx="4892040" cy="26060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eature_importance_catboost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564" y="2862072"/>
            <a:ext cx="4096511" cy="23042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5852160"/>
            <a:ext cx="103784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450" b="1">
                <a:solidFill>
                  <a:srgbClr val="232D3C"/>
                </a:solidFill>
                <a:latin typeface="Aptos"/>
              </a:rPr>
              <a:t>Se eligió porque mejora el baseline, es reproducible y se puede defender como pipeline predictivo.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Resultado adicional: mejor score de competencia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3949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400" b="1">
                <a:solidFill>
                  <a:srgbClr val="0A1F44"/>
                </a:solidFill>
                <a:latin typeface="Aptos"/>
              </a:rPr>
              <a:t>Mejor submit público: 0,46155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57800" cy="310896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Archivo: lb_probe_v9_residual_refined_primary_t3000_a075.csv.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No se presenta como modelo principal.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Combina submits históricos y sus R2 públicos.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Sirve como optimización competitiva.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Tiene mayor riesgo de sobreajuste al 50% público.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914400"/>
            <a:ext cx="5120640" cy="370332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ue_funciono_y_que_no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82319"/>
            <a:ext cx="4754880" cy="26760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577840"/>
            <a:ext cx="1037844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500" b="1">
                <a:solidFill>
                  <a:srgbClr val="232D3C"/>
                </a:solidFill>
                <a:latin typeface="Aptos"/>
              </a:rPr>
              <a:t>Lectura honesta: 0,39740 es el modelo final reproducible; 0,46155 es el mejor resultado de competencia calibrado con feedback del leaderboard.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Limitaciones y posibles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2120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0A1F44"/>
                </a:solidFill>
                <a:latin typeface="Aptos"/>
              </a:rPr>
              <a:t>Limitaciones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166360" cy="425196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Drift fuerte: test tiene géneros/subgéneros casi ausentes en train.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El leaderboard público representa solo una parte del test.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Los ajustes por subgénero dependen de hipótesis manuales.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La validación interna no replica completamente Kaggle.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El solver de leaderboard no generaliza a datos nuevos.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029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300" b="1">
                <a:solidFill>
                  <a:srgbClr val="0A1F44"/>
                </a:solidFill>
                <a:latin typeface="Aptos"/>
              </a:rPr>
              <a:t>Mejoras con más 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983480" cy="4251960"/>
          </a:xfrm>
          <a:prstGeom prst="rect">
            <a:avLst/>
          </a:prstGeom>
          <a:noFill/>
        </p:spPr>
        <p:txBody>
          <a:bodyPr wrap="square" lIns="73152" rIns="73152" t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Diseñar una validación que simule mejor el drift.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Buscar datos externos o features de artista más robustas.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Entrenar modelos especializados por género o subgénero.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Automatizar reglas con validación honesta.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Usar ensambles menos dependientes del leaderboard público.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06424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900" b="1">
                <a:solidFill>
                  <a:srgbClr val="0A1F44"/>
                </a:solidFill>
                <a:latin typeface="Aptos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10412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300" b="0">
                <a:solidFill>
                  <a:srgbClr val="232D3C"/>
                </a:solidFill>
                <a:latin typeface="Aptos"/>
              </a:rPr>
              <a:t>El desafío no fue solo entrenar un modelo con buena CV, sino adaptarse a un test con distribución distinta.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108960"/>
            <a:ext cx="30175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18688"/>
            <a:ext cx="27432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02152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0B7DA"/>
                </a:solidFill>
                <a:latin typeface="Aptos"/>
              </a:rPr>
              <a:t>0,36930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50208"/>
            <a:ext cx="27432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CatBoost inicial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108960"/>
            <a:ext cx="30175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218688"/>
            <a:ext cx="27432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Modelo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502152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28A745"/>
                </a:solidFill>
                <a:latin typeface="Aptos"/>
              </a:rPr>
              <a:t>0,39740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950208"/>
            <a:ext cx="27432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pipeline reproducible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108960"/>
            <a:ext cx="30175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218688"/>
            <a:ext cx="27432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>
                <a:solidFill>
                  <a:srgbClr val="647082"/>
                </a:solidFill>
                <a:latin typeface="Aptos"/>
              </a:rPr>
              <a:t>Competencia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02152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FF9F40"/>
                </a:solidFill>
                <a:latin typeface="Aptos"/>
              </a:rPr>
              <a:t>0,46155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950208"/>
            <a:ext cx="27432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0">
                <a:solidFill>
                  <a:srgbClr val="647082"/>
                </a:solidFill>
                <a:latin typeface="Aptos"/>
              </a:rPr>
              <a:t>leaderboard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42416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1">
                <a:solidFill>
                  <a:srgbClr val="232D3C"/>
                </a:solidFill>
                <a:latin typeface="Aptos"/>
              </a:rPr>
              <a:t>La entrega principal prioriza reproducibilidad y defensa metodológica; el mejor score se informa como exploración adicional.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