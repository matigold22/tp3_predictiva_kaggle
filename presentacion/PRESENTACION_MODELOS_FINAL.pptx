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8992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ptos"/>
              </a:rPr>
              <a:t>Prediccion de popularidad musical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17320"/>
            <a:ext cx="987552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200" b="0">
                <a:solidFill>
                  <a:srgbClr val="D2E1FA"/>
                </a:solidFill>
                <a:latin typeface="Aptos"/>
              </a:rPr>
              <a:t>Modelado, seleccion y resultados finales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788920"/>
            <a:ext cx="292608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61872" y="2916936"/>
            <a:ext cx="259689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>
                <a:solidFill>
                  <a:srgbClr val="647082"/>
                </a:solidFill>
                <a:latin typeface="Aptos"/>
              </a:rPr>
              <a:t>Modelo final reproducible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3227832"/>
            <a:ext cx="2596896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28A745"/>
                </a:solidFill>
                <a:latin typeface="Aptos"/>
              </a:rPr>
              <a:t>0,39740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872" y="3776472"/>
            <a:ext cx="2596896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647082"/>
                </a:solidFill>
                <a:latin typeface="Aptos"/>
              </a:rPr>
              <a:t>R2 publico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2788920"/>
            <a:ext cx="292608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82312" y="2916936"/>
            <a:ext cx="259689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>
                <a:solidFill>
                  <a:srgbClr val="647082"/>
                </a:solidFill>
                <a:latin typeface="Aptos"/>
              </a:rPr>
              <a:t>Baseline CatBoost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3227832"/>
            <a:ext cx="2596896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40B7DA"/>
                </a:solidFill>
                <a:latin typeface="Aptos"/>
              </a:rPr>
              <a:t>0,36930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82312" y="3776472"/>
            <a:ext cx="2596896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647082"/>
                </a:solidFill>
                <a:latin typeface="Aptos"/>
              </a:rPr>
              <a:t>R2 publico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788920"/>
            <a:ext cx="292608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2916936"/>
            <a:ext cx="259689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>
                <a:solidFill>
                  <a:srgbClr val="647082"/>
                </a:solidFill>
                <a:latin typeface="Aptos"/>
              </a:rPr>
              <a:t>Mejor competencia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227832"/>
            <a:ext cx="2596896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FF9F40"/>
                </a:solidFill>
                <a:latin typeface="Aptos"/>
              </a:rPr>
              <a:t>0,46155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3776472"/>
            <a:ext cx="2596896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647082"/>
                </a:solidFill>
                <a:latin typeface="Aptos"/>
              </a:rPr>
              <a:t>Optimizacion leaderboard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897880"/>
            <a:ext cx="102412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0">
                <a:solidFill>
                  <a:srgbClr val="DCE6F5"/>
                </a:solidFill>
                <a:latin typeface="Aptos"/>
              </a:rPr>
              <a:t>Entrega: pipeline predictivo reproducible + experimento adicional de competencia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18872"/>
            <a:ext cx="107899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Aptos"/>
              </a:rPr>
              <a:t>Problema y datos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960120"/>
            <a:ext cx="2286000" cy="1143000"/>
          </a:xfrm>
          <a:prstGeom prst="roundRect">
            <a:avLst/>
          </a:prstGeom>
          <a:solidFill>
            <a:srgbClr val="F4F7FB"/>
          </a:solidFill>
          <a:ln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1" y="1088136"/>
            <a:ext cx="19568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>
                <a:solidFill>
                  <a:srgbClr val="647082"/>
                </a:solidFill>
                <a:latin typeface="Aptos"/>
              </a:rPr>
              <a:t>Objetivo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1399032"/>
            <a:ext cx="1956816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2462BF"/>
                </a:solidFill>
                <a:latin typeface="Aptos"/>
              </a:rPr>
              <a:t>Regresion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1" y="1947672"/>
            <a:ext cx="1956816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647082"/>
                </a:solidFill>
                <a:latin typeface="Aptos"/>
              </a:rPr>
              <a:t>predecir track_popularity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960120"/>
            <a:ext cx="2286000" cy="1143000"/>
          </a:xfrm>
          <a:prstGeom prst="roundRect">
            <a:avLst/>
          </a:prstGeom>
          <a:solidFill>
            <a:srgbClr val="F4F7FB"/>
          </a:solidFill>
          <a:ln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10712" y="1088136"/>
            <a:ext cx="19568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>
                <a:solidFill>
                  <a:srgbClr val="647082"/>
                </a:solidFill>
                <a:latin typeface="Aptos"/>
              </a:rPr>
              <a:t>Train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1399032"/>
            <a:ext cx="1956816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2462BF"/>
                </a:solidFill>
                <a:latin typeface="Aptos"/>
              </a:rPr>
              <a:t>26.266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1947672"/>
            <a:ext cx="1956816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647082"/>
                </a:solidFill>
                <a:latin typeface="Aptos"/>
              </a:rPr>
              <a:t>filas, 24 columnas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960120"/>
            <a:ext cx="2286000" cy="1143000"/>
          </a:xfrm>
          <a:prstGeom prst="roundRect">
            <a:avLst/>
          </a:prstGeom>
          <a:solidFill>
            <a:srgbClr val="F4F7FB"/>
          </a:solidFill>
          <a:ln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16752" y="1088136"/>
            <a:ext cx="19568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>
                <a:solidFill>
                  <a:srgbClr val="647082"/>
                </a:solidFill>
                <a:latin typeface="Aptos"/>
              </a:rPr>
              <a:t>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6752" y="1399032"/>
            <a:ext cx="1956816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2462BF"/>
                </a:solidFill>
                <a:latin typeface="Aptos"/>
              </a:rPr>
              <a:t>6.567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16752" y="1947672"/>
            <a:ext cx="1956816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647082"/>
                </a:solidFill>
                <a:latin typeface="Aptos"/>
              </a:rPr>
              <a:t>filas, 23 columnas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58200" y="960120"/>
            <a:ext cx="2286000" cy="1143000"/>
          </a:xfrm>
          <a:prstGeom prst="roundRect">
            <a:avLst/>
          </a:prstGeom>
          <a:solidFill>
            <a:srgbClr val="F4F7FB"/>
          </a:solidFill>
          <a:ln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22792" y="1088136"/>
            <a:ext cx="19568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>
                <a:solidFill>
                  <a:srgbClr val="647082"/>
                </a:solidFill>
                <a:latin typeface="Aptos"/>
              </a:rPr>
              <a:t>Metrica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22792" y="1399032"/>
            <a:ext cx="1956816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2462BF"/>
                </a:solidFill>
                <a:latin typeface="Aptos"/>
              </a:rPr>
              <a:t>R2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22792" y="1947672"/>
            <a:ext cx="1956816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647082"/>
                </a:solidFill>
                <a:latin typeface="Aptos"/>
              </a:rPr>
              <a:t>leaderboard publico</a:t>
            </a:r>
          </a:p>
        </p:txBody>
      </p:sp>
      <p:pic>
        <p:nvPicPr>
          <p:cNvPr id="20" name="Picture 19" descr="eda_shift_generos_train_test_can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23160"/>
            <a:ext cx="5303520" cy="2983230"/>
          </a:xfrm>
          <a:prstGeom prst="rect">
            <a:avLst/>
          </a:prstGeom>
        </p:spPr>
      </p:pic>
      <p:pic>
        <p:nvPicPr>
          <p:cNvPr id="21" name="Picture 20" descr="eda_popularidad_subgenero_can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423160"/>
            <a:ext cx="5074920" cy="285464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22960" y="6053328"/>
            <a:ext cx="10698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1">
                <a:solidFill>
                  <a:srgbClr val="232D3C"/>
                </a:solidFill>
                <a:latin typeface="Aptos"/>
              </a:rPr>
              <a:t>Punto clave: train y test no tenian la misma composicion. Esto hizo que la validacion interna no alcanzara para elegir el mejor submit.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18872"/>
            <a:ext cx="107899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Aptos"/>
              </a:rPr>
              <a:t>Modelo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53035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0A1F44"/>
                </a:solidFill>
                <a:latin typeface="Aptos"/>
              </a:rPr>
              <a:t>Baseline usado: CatBoost inicial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257800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Modelo rapido de referencia para tener una primera vara competitiva.</a:t>
            </a:r>
          </a:p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Uso 157 features procesadas: audio, fechas, duracion, frecuencias, target encoding OOF y variables de contexto.</a:t>
            </a:r>
          </a:p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Variables categoricas directas: genre, subgenre, key, mode, key_mode y genre_subgenre.</a:t>
            </a:r>
          </a:p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Validacion: GroupKFold por track_id para evitar que la misma cancion aparezca en train y validacion.</a:t>
            </a:r>
          </a:p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Ademas aplico lookup para 800 canciones del test ya vistas en train.</a:t>
            </a:r>
          </a:p>
        </p:txBody>
      </p:sp>
      <p:pic>
        <p:nvPicPr>
          <p:cNvPr id="6" name="Picture 5" descr="baseline_catboost_brecha_generalizacion_can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960120"/>
            <a:ext cx="5166360" cy="290762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5257800"/>
            <a:ext cx="2286000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5385816"/>
            <a:ext cx="19568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>
                <a:solidFill>
                  <a:srgbClr val="647082"/>
                </a:solidFill>
                <a:latin typeface="Aptos"/>
              </a:rPr>
              <a:t>OOF R2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5696712"/>
            <a:ext cx="1956816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40B7DA"/>
                </a:solidFill>
                <a:latin typeface="Aptos"/>
              </a:rPr>
              <a:t>0,6520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6245352"/>
            <a:ext cx="1956816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647082"/>
                </a:solidFill>
                <a:latin typeface="Aptos"/>
              </a:rPr>
              <a:t>validacion interna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5257800"/>
            <a:ext cx="2286000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2152" y="5385816"/>
            <a:ext cx="19568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>
                <a:solidFill>
                  <a:srgbClr val="647082"/>
                </a:solidFill>
                <a:latin typeface="Aptos"/>
              </a:rPr>
              <a:t>Publico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5696712"/>
            <a:ext cx="1956816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28A745"/>
                </a:solidFill>
                <a:latin typeface="Aptos"/>
              </a:rPr>
              <a:t>0,36930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2152" y="6245352"/>
            <a:ext cx="1956816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647082"/>
                </a:solidFill>
                <a:latin typeface="Aptos"/>
              </a:rPr>
              <a:t>catboost_best_submit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5257800"/>
            <a:ext cx="2286000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16752" y="5385816"/>
            <a:ext cx="19568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>
                <a:solidFill>
                  <a:srgbClr val="647082"/>
                </a:solidFill>
                <a:latin typeface="Aptos"/>
              </a:rPr>
              <a:t>RMSE OOF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5696712"/>
            <a:ext cx="1956816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2462BF"/>
                </a:solidFill>
                <a:latin typeface="Aptos"/>
              </a:rPr>
              <a:t>14,743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16752" y="6245352"/>
            <a:ext cx="1956816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647082"/>
                </a:solidFill>
                <a:latin typeface="Aptos"/>
              </a:rPr>
              <a:t>GroupKFold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60" y="5257800"/>
            <a:ext cx="2286000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31352" y="5385816"/>
            <a:ext cx="19568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>
                <a:solidFill>
                  <a:srgbClr val="647082"/>
                </a:solidFill>
                <a:latin typeface="Aptos"/>
              </a:rPr>
              <a:t>Lookup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1352" y="5696712"/>
            <a:ext cx="1956816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FF9F40"/>
                </a:solidFill>
                <a:latin typeface="Aptos"/>
              </a:rPr>
              <a:t>800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1352" y="6245352"/>
            <a:ext cx="1956816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647082"/>
                </a:solidFill>
                <a:latin typeface="Aptos"/>
              </a:rPr>
              <a:t>filas protegidas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18872"/>
            <a:ext cx="107899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Aptos"/>
              </a:rPr>
              <a:t>Features y preparacion</a:t>
            </a:r>
          </a:p>
        </p:txBody>
      </p:sp>
      <p:pic>
        <p:nvPicPr>
          <p:cNvPr id="4" name="Picture 3" descr="feature_engineering_variables_can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14400"/>
            <a:ext cx="5669280" cy="3190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46520" y="960120"/>
            <a:ext cx="516636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0A1F44"/>
                </a:solidFill>
                <a:latin typeface="Aptos"/>
              </a:rPr>
              <a:t>La senal no estaba en una sola variable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463040"/>
            <a:ext cx="5074920" cy="3566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Audio: danceability, energy, valence, tempo, loudness y transformaciones.</a:t>
            </a:r>
          </a:p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Tiempo: anio, mes, decada, antiguedad y flags de fecha parcial.</a:t>
            </a:r>
          </a:p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Contexto: playlist, genero, subgenero, artista y album.</a:t>
            </a:r>
          </a:p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Frecuencias train/test para manejar categorias nuevas.</a:t>
            </a:r>
          </a:p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Target encoding OOF para reducir leakage.</a:t>
            </a:r>
          </a:p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Lookup de track_id para canciones ya observadas.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7960" y="5486400"/>
            <a:ext cx="489204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600" b="1">
                <a:solidFill>
                  <a:srgbClr val="232D3C"/>
                </a:solidFill>
                <a:latin typeface="Aptos"/>
              </a:rPr>
              <a:t>La idea fue combinar senal musical + contexto + robustez frente a categorias no vistas.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18872"/>
            <a:ext cx="107899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Aptos"/>
              </a:rPr>
              <a:t>Seleccion de modelos: que se probo</a:t>
            </a:r>
          </a:p>
        </p:txBody>
      </p:sp>
      <p:pic>
        <p:nvPicPr>
          <p:cNvPr id="4" name="Picture 3" descr="timeline_todos_submits_can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14400"/>
            <a:ext cx="11064240" cy="62236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715000"/>
            <a:ext cx="1060704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232D3C"/>
                </a:solidFill>
                <a:latin typeface="Aptos"/>
              </a:rPr>
              <a:t>Este grafico resume la secuencia real de pruebas: se avanzo de modelos base a feature selection, postprocesos, ExtraTrees, reglas por subgenero y finalmente probes de leaderboard.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18872"/>
            <a:ext cx="107899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Aptos"/>
              </a:rPr>
              <a:t>Estrategia de evaluacion y busqueda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53949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0A1F44"/>
                </a:solidFill>
                <a:latin typeface="Aptos"/>
              </a:rPr>
              <a:t>Como se decidio que 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81328"/>
            <a:ext cx="530352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Validacion interna con GroupKFold por track_id: util para comparar modelos sin leakage de canciones repetidas.</a:t>
            </a:r>
          </a:p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Leaderboard publico como diagnostico externo: mostro drift fuerte entre train y test.</a:t>
            </a:r>
          </a:p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Cambios graduales: no se reemplazo todo el pipeline de golpe; se probo una hipotesis por vez.</a:t>
            </a:r>
          </a:p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Se registro cada submit con nombre exacto y R2 publico para evitar confundir ramas.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960120"/>
            <a:ext cx="51206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0A1F44"/>
                </a:solidFill>
                <a:latin typeface="Aptos"/>
              </a:rPr>
              <a:t>Familias probadas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481328"/>
            <a:ext cx="49834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CatBoost base y variantes sin/con target encoding.</a:t>
            </a:r>
          </a:p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CatBoost con seleccion de features: top 60, top 90, top 120.</a:t>
            </a:r>
          </a:p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Ajustes de hiperparametros y postprocesos conservadores.</a:t>
            </a:r>
          </a:p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LightGBM y ExtraTrees como fuentes de diversidad.</a:t>
            </a:r>
          </a:p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Ensambles por ranking para preservar distribucion.</a:t>
            </a:r>
          </a:p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Reglas localizadas sobre subgeneros no vistos.</a:t>
            </a:r>
          </a:p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Probes de leaderboard como experimento final de competencia.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18872"/>
            <a:ext cx="107899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Aptos"/>
              </a:rPr>
              <a:t>Modelo final seleccionado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109728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0A1F44"/>
                </a:solidFill>
                <a:latin typeface="Aptos"/>
              </a:rPr>
              <a:t>Pipeline reproducible: CatBoost + ExtraTrees + postprocesamiento deterministico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2468880" cy="1005840"/>
          </a:xfrm>
          <a:prstGeom prst="roundRect">
            <a:avLst/>
          </a:prstGeom>
          <a:solidFill>
            <a:srgbClr val="F4F7FB"/>
          </a:solidFill>
          <a:ln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28216"/>
            <a:ext cx="213969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>
                <a:solidFill>
                  <a:srgbClr val="647082"/>
                </a:solidFill>
                <a:latin typeface="Aptos"/>
              </a:rPr>
              <a:t>Submit 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039112"/>
            <a:ext cx="2139696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28A745"/>
                </a:solidFill>
                <a:latin typeface="Aptos"/>
              </a:rPr>
              <a:t>0,39740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587752"/>
            <a:ext cx="2139696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647082"/>
                </a:solidFill>
                <a:latin typeface="Aptos"/>
              </a:rPr>
              <a:t>R2 publico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600200"/>
            <a:ext cx="2468880" cy="1005840"/>
          </a:xfrm>
          <a:prstGeom prst="roundRect">
            <a:avLst/>
          </a:prstGeom>
          <a:solidFill>
            <a:srgbClr val="F4F7FB"/>
          </a:solidFill>
          <a:ln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1728216"/>
            <a:ext cx="213969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>
                <a:solidFill>
                  <a:srgbClr val="647082"/>
                </a:solidFill>
                <a:latin typeface="Aptos"/>
              </a:rPr>
              <a:t>CatBoost top 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2039112"/>
            <a:ext cx="2139696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2462BF"/>
                </a:solidFill>
                <a:latin typeface="Aptos"/>
              </a:rPr>
              <a:t>66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587752"/>
            <a:ext cx="2139696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647082"/>
                </a:solidFill>
                <a:latin typeface="Aptos"/>
              </a:rPr>
              <a:t>features finales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00200"/>
            <a:ext cx="2468880" cy="1005840"/>
          </a:xfrm>
          <a:prstGeom prst="roundRect">
            <a:avLst/>
          </a:prstGeom>
          <a:solidFill>
            <a:srgbClr val="F4F7FB"/>
          </a:solidFill>
          <a:ln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728216"/>
            <a:ext cx="213969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>
                <a:solidFill>
                  <a:srgbClr val="647082"/>
                </a:solidFill>
                <a:latin typeface="Aptos"/>
              </a:rPr>
              <a:t>ExtraTrees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039112"/>
            <a:ext cx="2139696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40B7DA"/>
                </a:solidFill>
                <a:latin typeface="Aptos"/>
              </a:rPr>
              <a:t>45/70/100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587752"/>
            <a:ext cx="2139696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647082"/>
                </a:solidFill>
                <a:latin typeface="Aptos"/>
              </a:rPr>
              <a:t>features numericas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1600200"/>
            <a:ext cx="2468880" cy="1005840"/>
          </a:xfrm>
          <a:prstGeom prst="roundRect">
            <a:avLst/>
          </a:prstGeom>
          <a:solidFill>
            <a:srgbClr val="F4F7FB"/>
          </a:solidFill>
          <a:ln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5712" y="1728216"/>
            <a:ext cx="213969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>
                <a:solidFill>
                  <a:srgbClr val="647082"/>
                </a:solidFill>
                <a:latin typeface="Aptos"/>
              </a:rPr>
              <a:t>Lookup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5712" y="2039112"/>
            <a:ext cx="2139696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FF9F40"/>
                </a:solidFill>
                <a:latin typeface="Aptos"/>
              </a:rPr>
              <a:t>800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25712" y="2587752"/>
            <a:ext cx="2139696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647082"/>
                </a:solidFill>
                <a:latin typeface="Aptos"/>
              </a:rPr>
              <a:t>canciones vistas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2971800"/>
            <a:ext cx="5440680" cy="2651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Se llego al modelo final despues de observar que CatBoost top 60 era el mejor modelo puro publico.</a:t>
            </a:r>
          </a:p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ExtraTrees no gano solo, pero aporto ranking complementario sobre filas no vistas.</a:t>
            </a:r>
          </a:p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El ensamble preservo la distribucion del mejor submit y cambio principalmente el orden relativo.</a:t>
            </a:r>
          </a:p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Las reglas finales bajaron subgeneros puntuales: neo soul y progressive electro house.</a:t>
            </a:r>
          </a:p>
        </p:txBody>
      </p:sp>
      <p:pic>
        <p:nvPicPr>
          <p:cNvPr id="22" name="Picture 21" descr="feature_importance_catboost_can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880360"/>
            <a:ext cx="4846320" cy="272605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2960" y="5943600"/>
            <a:ext cx="10515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1">
                <a:solidFill>
                  <a:srgbClr val="232D3C"/>
                </a:solidFill>
                <a:latin typeface="Aptos"/>
              </a:rPr>
              <a:t>Se eligio porque mejora el baseline, es reproducible y se puede defender como pipeline predictivo.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18872"/>
            <a:ext cx="107899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Aptos"/>
              </a:rPr>
              <a:t>Resultado adicional: mejor score de competencia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5349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500" b="1">
                <a:solidFill>
                  <a:srgbClr val="0A1F44"/>
                </a:solidFill>
                <a:latin typeface="Aptos"/>
              </a:rPr>
              <a:t>Mejor submit publico: 0,46155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5257800" cy="3566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Archivo: lb_probe_v9_residual_refined_primary_t3000_a075.csv.</a:t>
            </a:r>
          </a:p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No se presenta como modelo principal, sino como optimizacion experimental de competencia.</a:t>
            </a:r>
          </a:p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Combina submits historicos y sus R2 publicos para estimar direcciones de mejora.</a:t>
            </a:r>
          </a:p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Tiene mayor riesgo de sobreajuste al 50% publico del test.</a:t>
            </a:r>
          </a:p>
        </p:txBody>
      </p:sp>
      <p:pic>
        <p:nvPicPr>
          <p:cNvPr id="6" name="Picture 5" descr="que_funciono_y_que_no_can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005840"/>
            <a:ext cx="5029200" cy="28304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5806440"/>
            <a:ext cx="1037844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1">
                <a:solidFill>
                  <a:srgbClr val="232D3C"/>
                </a:solidFill>
                <a:latin typeface="Aptos"/>
              </a:rPr>
              <a:t>Lectura honesta: el 0,39740 es el modelo final reproducible; el 0,46155 es el mejor resultado de competencia calibrado con feedback del leaderboard.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18872"/>
            <a:ext cx="107899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Aptos"/>
              </a:rPr>
              <a:t>Limitaciones y posibles mejoras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52578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0A1F44"/>
                </a:solidFill>
                <a:latin typeface="Aptos"/>
              </a:rPr>
              <a:t>Limitaciones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5166360" cy="434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Drift fuerte: test tiene generos/subgeneros que casi no aparecen en train.</a:t>
            </a:r>
          </a:p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El leaderboard publico representa solo una parte del test; optimizarlo puede no generalizar al privado.</a:t>
            </a:r>
          </a:p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Los ajustes por subgenero son efectivos, pero dependen de hipotesis manuales.</a:t>
            </a:r>
          </a:p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La validacion interna no replica completamente la distribucion real de Kaggle.</a:t>
            </a:r>
          </a:p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El solver de leaderboard no es un modelo generalizable a datos nuevos.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960120"/>
            <a:ext cx="50292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0A1F44"/>
                </a:solidFill>
                <a:latin typeface="Aptos"/>
              </a:rPr>
              <a:t>Mejoras con mas tiempo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508760"/>
            <a:ext cx="4983480" cy="434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Diseniar una validacion que simule mejor el drift train/test.</a:t>
            </a:r>
          </a:p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Buscar datos externos o features temporales/artista mas robustas.</a:t>
            </a:r>
          </a:p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Entrenar modelos especializados por genero o subgenero.</a:t>
            </a:r>
          </a:p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Automatizar seleccion de reglas con validacion honesta.</a:t>
            </a:r>
          </a:p>
          <a:p>
            <a:pPr>
              <a:spcAft>
                <a:spcPts val="800"/>
              </a:spcAft>
              <a:defRPr sz="1700">
                <a:solidFill>
                  <a:srgbClr val="232D3C"/>
                </a:solidFill>
                <a:latin typeface="Aptos"/>
              </a:defRPr>
            </a:pPr>
            <a:r>
              <a:t>Usar ensambles mas estables y menos dependientes del leaderboard publico.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18872"/>
            <a:ext cx="107899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Aptos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9728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000" b="1">
                <a:solidFill>
                  <a:srgbClr val="0A1F44"/>
                </a:solidFill>
                <a:latin typeface="Aptos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1028700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0">
                <a:solidFill>
                  <a:srgbClr val="232D3C"/>
                </a:solidFill>
                <a:latin typeface="Aptos"/>
              </a:rPr>
              <a:t>El trabajo mostro que el problema no era solamente entrenar un modelo con buena CV, sino adaptarse a un test con distribucion distinta.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3246120"/>
            <a:ext cx="3017520" cy="1234440"/>
          </a:xfrm>
          <a:prstGeom prst="roundRect">
            <a:avLst/>
          </a:prstGeom>
          <a:solidFill>
            <a:srgbClr val="F4F7FB"/>
          </a:solidFill>
          <a:ln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374136"/>
            <a:ext cx="268833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>
                <a:solidFill>
                  <a:srgbClr val="647082"/>
                </a:solidFill>
                <a:latin typeface="Aptos"/>
              </a:rPr>
              <a:t>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3685031"/>
            <a:ext cx="2688336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40B7DA"/>
                </a:solidFill>
                <a:latin typeface="Aptos"/>
              </a:rPr>
              <a:t>0,36930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4233672"/>
            <a:ext cx="2688336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647082"/>
                </a:solidFill>
                <a:latin typeface="Aptos"/>
              </a:rPr>
              <a:t>CatBoost inicial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3246120"/>
            <a:ext cx="3017520" cy="1234440"/>
          </a:xfrm>
          <a:prstGeom prst="roundRect">
            <a:avLst/>
          </a:prstGeom>
          <a:solidFill>
            <a:srgbClr val="F4F7FB"/>
          </a:solidFill>
          <a:ln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3374136"/>
            <a:ext cx="268833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>
                <a:solidFill>
                  <a:srgbClr val="647082"/>
                </a:solidFill>
                <a:latin typeface="Aptos"/>
              </a:rPr>
              <a:t>Modelo final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3685031"/>
            <a:ext cx="2688336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28A745"/>
                </a:solidFill>
                <a:latin typeface="Aptos"/>
              </a:rPr>
              <a:t>0,39740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4233672"/>
            <a:ext cx="2688336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647082"/>
                </a:solidFill>
                <a:latin typeface="Aptos"/>
              </a:rPr>
              <a:t>pipeline reproducible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246120"/>
            <a:ext cx="3017520" cy="1234440"/>
          </a:xfrm>
          <a:prstGeom prst="roundRect">
            <a:avLst/>
          </a:prstGeom>
          <a:solidFill>
            <a:srgbClr val="F4F7FB"/>
          </a:solidFill>
          <a:ln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2752" y="3374136"/>
            <a:ext cx="268833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>
                <a:solidFill>
                  <a:srgbClr val="647082"/>
                </a:solidFill>
                <a:latin typeface="Aptos"/>
              </a:rPr>
              <a:t>Competencia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3685031"/>
            <a:ext cx="2688336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>
                <a:solidFill>
                  <a:srgbClr val="FF9F40"/>
                </a:solidFill>
                <a:latin typeface="Aptos"/>
              </a:rPr>
              <a:t>0,46155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4233672"/>
            <a:ext cx="2688336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647082"/>
                </a:solidFill>
                <a:latin typeface="Aptos"/>
              </a:rPr>
              <a:t>leaderboard optimization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715000"/>
            <a:ext cx="104241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700" b="1">
                <a:solidFill>
                  <a:srgbClr val="232D3C"/>
                </a:solidFill>
                <a:latin typeface="Aptos"/>
              </a:rPr>
              <a:t>La entrega principal prioriza reproducibilidad y defensa metodologica; el mejor score se informa como exploracion adicional.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