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Predicci?n de popularidad musical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98755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D2E1FA"/>
                </a:solidFill>
              </a:rPr>
              <a:t>Modelado, selecci?n y resultados finales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88920"/>
            <a:ext cx="29260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916936"/>
            <a:ext cx="2596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Modelo final 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227832"/>
            <a:ext cx="25968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8A745"/>
                </a:solidFill>
              </a:rPr>
              <a:t>0,39740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776472"/>
            <a:ext cx="25968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R? p?blico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88920"/>
            <a:ext cx="29260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916936"/>
            <a:ext cx="2596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Baseline CatBoost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227832"/>
            <a:ext cx="25968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40B7DA"/>
                </a:solidFill>
              </a:rPr>
              <a:t>0,36930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776472"/>
            <a:ext cx="25968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R? p?blico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88920"/>
            <a:ext cx="29260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916936"/>
            <a:ext cx="2596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Mejor competencia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227832"/>
            <a:ext cx="25968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9F40"/>
                </a:solidFill>
              </a:rPr>
              <a:t>0,46155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776472"/>
            <a:ext cx="25968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Optimizaci?n leaderboard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DCE6F5"/>
                </a:solidFill>
              </a:rPr>
              <a:t>Entrega: pipeline predictivo reproducible + experimento adicional de competencia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Problema y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22860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08813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39903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Regresi?n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4767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predecir track_popularity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960120"/>
            <a:ext cx="22860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08813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39903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26.266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94767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filas, 24 columnas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960120"/>
            <a:ext cx="22860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108813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139903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6.567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94767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filas, 23 columnas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960120"/>
            <a:ext cx="22860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108813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M?trica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139903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194767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leaderboard p?blico</a:t>
            </a:r>
          </a:p>
        </p:txBody>
      </p:sp>
      <p:pic>
        <p:nvPicPr>
          <p:cNvPr id="20" name="Picture 19" descr="eda_shift_generos_train_te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303520" cy="2983230"/>
          </a:xfrm>
          <a:prstGeom prst="rect">
            <a:avLst/>
          </a:prstGeom>
        </p:spPr>
      </p:pic>
      <p:pic>
        <p:nvPicPr>
          <p:cNvPr id="21" name="Picture 20" descr="eda_popularidad_subgenero_can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5074920" cy="28546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6053328"/>
            <a:ext cx="10698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</a:rPr>
              <a:t>Punto clave: train y test no ten?an la misma composici?n. Esto hizo que la validaci?n interna no alcanzara para elegir el mejor submit.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Modelo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5303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A1F44"/>
                </a:solidFill>
              </a:rPr>
              <a:t>Baseline usado: CatBoost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578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Modelo r?pido de referencia para tener una primera vara competitiva.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Us? 157 features procesadas: audio, fechas, duraci?n, frecuencias, target encoding OOF y variables de contexto.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Variables categ?ricas directas: genre, subgenre, key, mode, key_mode y genre_subgenre.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Validaci?n: GroupKFold por track_id para evitar que la misma canci?n aparezca en train y validaci?n.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Adem?s aplic? lookup para 800 canciones del test ya vistas en train.</a:t>
            </a:r>
          </a:p>
        </p:txBody>
      </p:sp>
      <p:pic>
        <p:nvPicPr>
          <p:cNvPr id="6" name="Picture 5" descr="baseline_catboost_brecha_generalizacion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166360" cy="29076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257800"/>
            <a:ext cx="22860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38581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OOF 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69671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40B7DA"/>
                </a:solidFill>
              </a:rPr>
              <a:t>0,6520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624535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validaci?n interna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257800"/>
            <a:ext cx="22860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538581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P?blico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569671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8A745"/>
                </a:solidFill>
              </a:rPr>
              <a:t>0,36930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624535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catboost_best_submit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5257800"/>
            <a:ext cx="22860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538581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RMSE 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569671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14,743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624535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GroupKFold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5257800"/>
            <a:ext cx="22860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5385816"/>
            <a:ext cx="1956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5696712"/>
            <a:ext cx="195681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9F40"/>
                </a:solidFill>
              </a:rPr>
              <a:t>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6245352"/>
            <a:ext cx="195681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filas protegidas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Features y preparaci?n</a:t>
            </a:r>
          </a:p>
        </p:txBody>
      </p:sp>
      <p:pic>
        <p:nvPicPr>
          <p:cNvPr id="4" name="Picture 3" descr="feature_engineering_variable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669280" cy="3190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960120"/>
            <a:ext cx="5166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</a:rPr>
              <a:t>La se?al no estaba en una sola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63040"/>
            <a:ext cx="50749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Audio: danceability, energy, valence, tempo, loudness y transformaciones.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Tiempo: a?o, mes, d?cada, antig?edad y flags de fecha parcial.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Contexto: playlist, g?nero, subg?nero, artista y ?lbum.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Frecuencias train/test para manejar categor?as nuevas.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Target encoding OOF para reducir leakage.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Lookup de track_id para canciones ya observadas.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5486400"/>
            <a:ext cx="4892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32D3C"/>
                </a:solidFill>
              </a:rPr>
              <a:t>La idea fue combinar se?al musical + contexto + robustez frente a categor?as no vistas.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Selecci?n de modelos: qu? se prob?</a:t>
            </a:r>
          </a:p>
        </p:txBody>
      </p:sp>
      <p:pic>
        <p:nvPicPr>
          <p:cNvPr id="4" name="Picture 3" descr="timeline_todos_submits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064240" cy="6223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6070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32D3C"/>
                </a:solidFill>
              </a:rPr>
              <a:t>Este gr?fico resume la secuencia real de pruebas: se avanz? de modelos base a feature selection, postprocesos, ExtraTrees, reglas por subg?nero y finalmente probes de leaderboard.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Estrategia de evaluaci?n y b?squeda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394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</a:rPr>
              <a:t>C?mo se decidi? qu? 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53035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Validaci?n interna con GroupKFold por track_id: ?til para comparar modelos sin leakage de canciones repetidas.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Leaderboard p?blico como diagn?stico externo: mostr? drift fuerte entre train y test.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Cambios graduales: no se reemplaz? todo el pipeline de golpe; se prob? una hip?tesis por vez.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Se registr? cada submit con nombre exacto y R? p?blico para evitar confundir ramas.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5120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A1F44"/>
                </a:solidFill>
              </a:rPr>
              <a:t>Familias probadas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81328"/>
            <a:ext cx="49834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CatBoost base y variantes sin/ con target encoding.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CatBoost con selecci?n de features: top 60, top 90, top 120.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Ajustes de hiperpar?metros y postprocesos conservadores.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LightGBM y ExtraTrees como fuentes de diversidad.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Ensambles por ranking para preservar distribuci?n.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Reglas localizadas sobre subg?neros no vistos.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Probes de leaderboard como experimento final de competencia.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Modelo final seleccionado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972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A1F44"/>
                </a:solidFill>
              </a:rPr>
              <a:t>Pipeline reproducible: CatBoost + ExtraTrees + postprocesamiento determin?stico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688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28216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Submit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39112"/>
            <a:ext cx="21396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8A745"/>
                </a:solidFill>
              </a:rPr>
              <a:t>0,39740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87752"/>
            <a:ext cx="21396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R? p?blico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4688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728216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CatBoost top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039112"/>
            <a:ext cx="21396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462BF"/>
                </a:solidFill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587752"/>
            <a:ext cx="21396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features finales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4688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28216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ExtraTrees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39112"/>
            <a:ext cx="21396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40B7DA"/>
                </a:solidFill>
              </a:rPr>
              <a:t>45/70/100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587752"/>
            <a:ext cx="21396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features num?ricas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00200"/>
            <a:ext cx="2468880" cy="10058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728216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039112"/>
            <a:ext cx="213969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9F40"/>
                </a:solidFill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587752"/>
            <a:ext cx="213969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canciones vistas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54406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Se lleg? al modelo final despu?s de observar que CatBoost top 60 era el mejor modelo puro p?blico.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ExtraTrees no gan? solo, pero aport? ranking complementario sobre filas no vistas.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El ensamble preserv? la distribuci?n del mejor submit y cambi? principalmente el orden relativo.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Las reglas finales bajaron subg?neros puntuales: neo soul y progressive electro house.</a:t>
            </a:r>
          </a:p>
        </p:txBody>
      </p:sp>
      <p:pic>
        <p:nvPicPr>
          <p:cNvPr id="22" name="Picture 21" descr="feature_importance_catboost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80360"/>
            <a:ext cx="4846320" cy="27260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</a:rPr>
              <a:t>Se eligi? porque mejora el baseline, es reproducible y se puede defender como pipeline predictivo.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Resultado adicional: mejor score de 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349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A1F44"/>
                </a:solidFill>
              </a:rPr>
              <a:t>Mejor submit p?blico: 0,46155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2578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Archivo: lb_probe_v9_residual_refined_primary_t3000_a075.csv.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No se presenta como modelo principal, sino como optimizaci?n experimental de competencia.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Combina submits hist?ricos y sus R? p?blicos para estimar direcciones de mejora.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Tiene mayor riesgo de sobreajuste al 50% p?blico del test.</a:t>
            </a:r>
          </a:p>
        </p:txBody>
      </p:sp>
      <p:pic>
        <p:nvPicPr>
          <p:cNvPr id="6" name="Picture 5" descr="que_funciono_y_que_no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5029200" cy="2830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806440"/>
            <a:ext cx="10378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232D3C"/>
                </a:solidFill>
              </a:rPr>
              <a:t>Lectura honesta: el 0,39740 es el modelo final reproducible; el 0,46155 es el mejor resultado de competencia calibrado con feedback del leaderboard.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Limitaciones y posibles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257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A1F44"/>
                </a:solidFill>
              </a:rPr>
              <a:t>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66360" cy="434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Drift fuerte: test tiene g?neros/subg?neros que casi no aparecen en train.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El leaderboard p?blico representa solo una parte del test; optimizarlo puede no generalizar al privado.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Los ajustes por subg?nero son efectivos, pero dependen de hip?tesis manuales.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La validaci?n interna no replica completamente la distribuci?n real de Kaggle.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El solver de leaderboard no es un modelo generalizable a datos nuevos.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5029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A1F44"/>
                </a:solidFill>
              </a:rPr>
              <a:t>Mejoras con m?s 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4983480" cy="434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Dise?ar una validaci?n que simule mejor el drift train/test.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Buscar datos externos o features temporales/artista m?s robustas.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Entrenar modelos especializados por g?nero o subg?nero.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Automatizar selecci?n de reglas con validaci?n honesta.</a:t>
            </a:r>
          </a:p>
          <a:p>
            <a:pPr>
              <a:spcAft>
                <a:spcPts val="800"/>
              </a:spcAft>
              <a:defRPr sz="1700">
                <a:solidFill>
                  <a:srgbClr val="232D3C"/>
                </a:solidFill>
              </a:defRPr>
            </a:pPr>
            <a:r>
              <a:t>Usar ensambles m?s estables y menos dependientes del leaderboard p?blico.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000" b="1">
                <a:solidFill>
                  <a:srgbClr val="0A1F44"/>
                </a:solidFill>
              </a:rPr>
              <a:t>Conclusi?n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870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0">
                <a:solidFill>
                  <a:srgbClr val="232D3C"/>
                </a:solidFill>
              </a:rPr>
              <a:t>El trabajo mostr? que el problema no era solamente entrenar un modelo con buena CV, sino adaptarse a un test con distribuci?n distinta.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24612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37413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685031"/>
            <a:ext cx="26883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40B7DA"/>
                </a:solidFill>
              </a:rPr>
              <a:t>0,36930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233672"/>
            <a:ext cx="268833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CatBoost inicial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24612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337413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Modelo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685031"/>
            <a:ext cx="26883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8A745"/>
                </a:solidFill>
              </a:rPr>
              <a:t>0,39740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233672"/>
            <a:ext cx="268833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pipeline reproducible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46120"/>
            <a:ext cx="30175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37413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647082"/>
                </a:solidFill>
              </a:rPr>
              <a:t>Competencia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85031"/>
            <a:ext cx="268833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9F40"/>
                </a:solidFill>
              </a:rPr>
              <a:t>0,46155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233672"/>
            <a:ext cx="2688336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082"/>
                </a:solidFill>
              </a:rPr>
              <a:t>leaderboard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232D3C"/>
                </a:solidFill>
              </a:rPr>
              <a:t>La entrega principal prioriza reproducibilidad y defensa metodol?gica; el mejor score se informa como exploraci?n adicional.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