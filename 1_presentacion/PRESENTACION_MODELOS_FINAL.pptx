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ctr"/>
            <a:r>
              <a:rPr sz="3400" b="1">
                <a:solidFill>
                  <a:srgbClr val="000000"/>
                </a:solidFill>
                <a:latin typeface="Aptos"/>
              </a:rPr>
              <a:t>Predicción de popularidad musical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325880"/>
            <a:ext cx="9875520" cy="41148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ctr"/>
            <a:r>
              <a:rPr sz="2000" b="0">
                <a:solidFill>
                  <a:srgbClr val="000000"/>
                </a:solidFill>
                <a:latin typeface="Aptos"/>
              </a:rPr>
              <a:t>Modelado, selección y resultados finales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788920"/>
            <a:ext cx="3017520" cy="1143000"/>
          </a:xfrm>
          <a:prstGeom prst="roundRect">
            <a:avLst/>
          </a:prstGeom>
          <a:solidFill>
            <a:srgbClr val="F8F8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2889503"/>
            <a:ext cx="2798063" cy="201168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ptos"/>
              </a:rPr>
              <a:t>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3154679"/>
            <a:ext cx="2798063" cy="41148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Aptos"/>
              </a:rPr>
              <a:t>0,36930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584448"/>
            <a:ext cx="2798063" cy="22860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919" b="0">
                <a:solidFill>
                  <a:srgbClr val="000000"/>
                </a:solidFill>
                <a:latin typeface="Aptos"/>
              </a:rPr>
              <a:t>R2 público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788920"/>
            <a:ext cx="3017520" cy="1143000"/>
          </a:xfrm>
          <a:prstGeom prst="roundRect">
            <a:avLst/>
          </a:prstGeom>
          <a:solidFill>
            <a:srgbClr val="F8F8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889503"/>
            <a:ext cx="2798063" cy="201168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ptos"/>
              </a:rPr>
              <a:t>Modelo reproducible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3154679"/>
            <a:ext cx="2798063" cy="41148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Aptos"/>
              </a:rPr>
              <a:t>0,39740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584448"/>
            <a:ext cx="2798063" cy="22860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919" b="0">
                <a:solidFill>
                  <a:srgbClr val="000000"/>
                </a:solidFill>
                <a:latin typeface="Aptos"/>
              </a:rPr>
              <a:t>pipeline final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788920"/>
            <a:ext cx="3017520" cy="1143000"/>
          </a:xfrm>
          <a:prstGeom prst="roundRect">
            <a:avLst/>
          </a:prstGeom>
          <a:solidFill>
            <a:srgbClr val="F8F8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889503"/>
            <a:ext cx="2798063" cy="201168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ptos"/>
              </a:rPr>
              <a:t>Mejor competencia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3154679"/>
            <a:ext cx="2798063" cy="41148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Aptos"/>
              </a:rPr>
              <a:t>0,46155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584448"/>
            <a:ext cx="2798063" cy="22860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919" b="0">
                <a:solidFill>
                  <a:srgbClr val="000000"/>
                </a:solidFill>
                <a:latin typeface="Aptos"/>
              </a:rPr>
              <a:t>ensamble calibrado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69280"/>
            <a:ext cx="10241280" cy="45720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Aptos"/>
              </a:rPr>
              <a:t>Objetivo: explicar qué modelos se probaron, cómo se eligieron y qué limitaciones quedaron.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ptos"/>
              </a:rPr>
              <a:t>Problema y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194560" cy="1078992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188720"/>
            <a:ext cx="1975104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1050" b="1">
                <a:solidFill>
                  <a:srgbClr val="5F5F5F"/>
                </a:solidFill>
                <a:latin typeface="Aptos"/>
              </a:rPr>
              <a:t>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53896"/>
            <a:ext cx="1975104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Regresión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47088"/>
            <a:ext cx="1975104" cy="2468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860" b="0">
                <a:solidFill>
                  <a:srgbClr val="5F5F5F"/>
                </a:solidFill>
                <a:latin typeface="Aptos"/>
              </a:rPr>
              <a:t>track_popularity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097280"/>
            <a:ext cx="2194560" cy="1078992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7288" y="1188720"/>
            <a:ext cx="1975104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1050" b="1">
                <a:solidFill>
                  <a:srgbClr val="5F5F5F"/>
                </a:solidFill>
                <a:latin typeface="Aptos"/>
              </a:rPr>
              <a:t>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1453896"/>
            <a:ext cx="1975104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26.266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1847088"/>
            <a:ext cx="1975104" cy="2468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860" b="0">
                <a:solidFill>
                  <a:srgbClr val="5F5F5F"/>
                </a:solidFill>
                <a:latin typeface="Aptos"/>
              </a:rPr>
              <a:t>filas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097280"/>
            <a:ext cx="2194560" cy="1078992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3328" y="1188720"/>
            <a:ext cx="1975104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1050" b="1">
                <a:solidFill>
                  <a:srgbClr val="5F5F5F"/>
                </a:solidFill>
                <a:latin typeface="Aptos"/>
              </a:rP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1453896"/>
            <a:ext cx="1975104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6.567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1847088"/>
            <a:ext cx="1975104" cy="2468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860" b="0">
                <a:solidFill>
                  <a:srgbClr val="5F5F5F"/>
                </a:solidFill>
                <a:latin typeface="Aptos"/>
              </a:rPr>
              <a:t>filas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1097280"/>
            <a:ext cx="2194560" cy="1078992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9368" y="1188720"/>
            <a:ext cx="1975104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1050" b="1">
                <a:solidFill>
                  <a:srgbClr val="5F5F5F"/>
                </a:solidFill>
                <a:latin typeface="Aptos"/>
              </a:rPr>
              <a:t>Métrica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8" y="1453896"/>
            <a:ext cx="1975104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R2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8" y="1847088"/>
            <a:ext cx="1975104" cy="2468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860" b="0">
                <a:solidFill>
                  <a:srgbClr val="5F5F5F"/>
                </a:solidFill>
                <a:latin typeface="Aptos"/>
              </a:rPr>
              <a:t>leaderboard público</a:t>
            </a:r>
          </a:p>
        </p:txBody>
      </p:sp>
      <p:pic>
        <p:nvPicPr>
          <p:cNvPr id="20" name="Picture 19" descr="eda_shift_generos_train_test_can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37460"/>
            <a:ext cx="5120640" cy="2880360"/>
          </a:xfrm>
          <a:prstGeom prst="rect">
            <a:avLst/>
          </a:prstGeom>
        </p:spPr>
      </p:pic>
      <p:pic>
        <p:nvPicPr>
          <p:cNvPr id="21" name="Picture 20" descr="eda_popularidad_subgenero_can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537460"/>
            <a:ext cx="5120640" cy="2880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7240" y="5806440"/>
            <a:ext cx="10561320" cy="41148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ptos"/>
              </a:rPr>
              <a:t>El principal desafío fue el cambio de distribución entre train y test: no alcanzaba con mirar solo la validación interna.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ptos"/>
              </a:rPr>
              <a:t>Features y preparación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5303520" cy="32004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Aptos"/>
              </a:rPr>
              <a:t>Qué se construyó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257800" cy="4251960"/>
          </a:xfrm>
          <a:prstGeom prst="rect">
            <a:avLst/>
          </a:prstGeom>
          <a:noFill/>
        </p:spPr>
        <p:txBody>
          <a:bodyPr wrap="square" lIns="73152" rIns="73152" tIns="18288">
            <a:normAutofit/>
          </a:bodyPr>
          <a:lstStyle/>
          <a:p>
            <a:pPr>
              <a:spcAft>
                <a:spcPts val="400"/>
              </a:spcAft>
              <a:defRPr sz="1480">
                <a:solidFill>
                  <a:srgbClr val="000000"/>
                </a:solidFill>
                <a:latin typeface="Aptos"/>
              </a:defRPr>
            </a:pPr>
            <a:r>
              <a:t>Variables de audio originales: danceability, energy, valence, tempo, loudness, etc.</a:t>
            </a:r>
          </a:p>
          <a:p>
            <a:pPr>
              <a:spcAft>
                <a:spcPts val="400"/>
              </a:spcAft>
              <a:defRPr sz="1480">
                <a:solidFill>
                  <a:srgbClr val="000000"/>
                </a:solidFill>
                <a:latin typeface="Aptos"/>
              </a:defRPr>
            </a:pPr>
            <a:r>
              <a:t>Variables temporales desde la fecha del álbum: año, mes, década, antigüedad y fecha parcial.</a:t>
            </a:r>
          </a:p>
          <a:p>
            <a:pPr>
              <a:spcAft>
                <a:spcPts val="400"/>
              </a:spcAft>
              <a:defRPr sz="1480">
                <a:solidFill>
                  <a:srgbClr val="000000"/>
                </a:solidFill>
                <a:latin typeface="Aptos"/>
              </a:defRPr>
            </a:pPr>
            <a:r>
              <a:t>Variables de duración e interacciones: duración en minutos, log, energy x danceability, valence x energy.</a:t>
            </a:r>
          </a:p>
          <a:p>
            <a:pPr>
              <a:spcAft>
                <a:spcPts val="400"/>
              </a:spcAft>
              <a:defRPr sz="1480">
                <a:solidFill>
                  <a:srgbClr val="000000"/>
                </a:solidFill>
                <a:latin typeface="Aptos"/>
              </a:defRPr>
            </a:pPr>
            <a:r>
              <a:t>Contexto musical: género, subgénero, artista, álbum, playlist y combinaciones.</a:t>
            </a:r>
          </a:p>
          <a:p>
            <a:pPr>
              <a:spcAft>
                <a:spcPts val="400"/>
              </a:spcAft>
              <a:defRPr sz="1480">
                <a:solidFill>
                  <a:srgbClr val="000000"/>
                </a:solidFill>
                <a:latin typeface="Aptos"/>
              </a:defRPr>
            </a:pPr>
            <a:r>
              <a:t>Frequency encoding para categorías nuevas y target encoding OOF para evitar leakage.</a:t>
            </a:r>
          </a:p>
          <a:p>
            <a:pPr>
              <a:spcAft>
                <a:spcPts val="400"/>
              </a:spcAft>
              <a:defRPr sz="1480">
                <a:solidFill>
                  <a:srgbClr val="000000"/>
                </a:solidFill>
                <a:latin typeface="Aptos"/>
              </a:defRPr>
            </a:pPr>
            <a:r>
              <a:t>Lookup por track_id: si una canción del test ya estaba en train, se usó su popularidad observada.</a:t>
            </a:r>
          </a:p>
        </p:txBody>
      </p:sp>
      <p:pic>
        <p:nvPicPr>
          <p:cNvPr id="6" name="Picture 5" descr="feature_engineering_variables_can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7976"/>
            <a:ext cx="4937760" cy="2778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4251960"/>
            <a:ext cx="4892040" cy="96012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ptos"/>
              </a:rPr>
              <a:t>La idea fue que el modelo no dependiera de una sola señal. Se combinó audio + contexto + tiempo + robustez frente a categorías no vistas.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5376672"/>
            <a:ext cx="2057400" cy="1115568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6248" y="5468112"/>
            <a:ext cx="1837944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1050" b="1">
                <a:solidFill>
                  <a:srgbClr val="5F5F5F"/>
                </a:solidFill>
                <a:latin typeface="Aptos"/>
              </a:rPr>
              <a:t>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5733288"/>
            <a:ext cx="1837944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170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6126480"/>
            <a:ext cx="1837944" cy="2468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860" b="0">
                <a:solidFill>
                  <a:srgbClr val="5F5F5F"/>
                </a:solidFill>
                <a:latin typeface="Aptos"/>
              </a:rPr>
              <a:t>aprox.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5376672"/>
            <a:ext cx="2057400" cy="1115568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33688" y="5468112"/>
            <a:ext cx="1837944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1050" b="1">
                <a:solidFill>
                  <a:srgbClr val="5F5F5F"/>
                </a:solidFill>
                <a:latin typeface="Aptos"/>
              </a:rPr>
              <a:t>Lookup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88" y="5733288"/>
            <a:ext cx="1837944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6126480"/>
            <a:ext cx="1837944" cy="2468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860" b="0">
                <a:solidFill>
                  <a:srgbClr val="5F5F5F"/>
                </a:solidFill>
                <a:latin typeface="Aptos"/>
              </a:rPr>
              <a:t>filas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ptos"/>
              </a:rPr>
              <a:t>Modelo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5212080" cy="32004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Aptos"/>
              </a:rPr>
              <a:t>Baseline: CatBoost inicial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257800" cy="3337560"/>
          </a:xfrm>
          <a:prstGeom prst="rect">
            <a:avLst/>
          </a:prstGeom>
          <a:noFill/>
        </p:spPr>
        <p:txBody>
          <a:bodyPr wrap="square" lIns="73152" rIns="73152" tIns="18288">
            <a:normAutofit/>
          </a:bodyPr>
          <a:lstStyle/>
          <a:p>
            <a:pPr>
              <a:spcAft>
                <a:spcPts val="400"/>
              </a:spcAft>
              <a:defRPr sz="1550">
                <a:solidFill>
                  <a:srgbClr val="000000"/>
                </a:solidFill>
                <a:latin typeface="Aptos"/>
              </a:defRPr>
            </a:pPr>
            <a:r>
              <a:t>Se usó como punto de referencia porque entrena rápido y maneja bien variables numéricas y categóricas.</a:t>
            </a:r>
          </a:p>
          <a:p>
            <a:pPr>
              <a:spcAft>
                <a:spcPts val="400"/>
              </a:spcAft>
              <a:defRPr sz="1550">
                <a:solidFill>
                  <a:srgbClr val="000000"/>
                </a:solidFill>
                <a:latin typeface="Aptos"/>
              </a:defRPr>
            </a:pPr>
            <a:r>
              <a:t>Tomó 157 features procesadas del feature engineering.</a:t>
            </a:r>
          </a:p>
          <a:p>
            <a:pPr>
              <a:spcAft>
                <a:spcPts val="400"/>
              </a:spcAft>
              <a:defRPr sz="1550">
                <a:solidFill>
                  <a:srgbClr val="000000"/>
                </a:solidFill>
                <a:latin typeface="Aptos"/>
              </a:defRPr>
            </a:pPr>
            <a:r>
              <a:t>Usó categóricas directas como género, subgénero, key, mode y combinaciones.</a:t>
            </a:r>
          </a:p>
          <a:p>
            <a:pPr>
              <a:spcAft>
                <a:spcPts val="400"/>
              </a:spcAft>
              <a:defRPr sz="1550">
                <a:solidFill>
                  <a:srgbClr val="000000"/>
                </a:solidFill>
                <a:latin typeface="Aptos"/>
              </a:defRPr>
            </a:pPr>
            <a:r>
              <a:t>Validación con GroupKFold por track_id para no validar con canciones repetidas.</a:t>
            </a:r>
          </a:p>
          <a:p>
            <a:pPr>
              <a:spcAft>
                <a:spcPts val="400"/>
              </a:spcAft>
              <a:defRPr sz="1550">
                <a:solidFill>
                  <a:srgbClr val="000000"/>
                </a:solidFill>
                <a:latin typeface="Aptos"/>
              </a:defRPr>
            </a:pPr>
            <a:r>
              <a:t>Aplicó el lookup de canciones ya vistas en train.</a:t>
            </a:r>
          </a:p>
        </p:txBody>
      </p:sp>
      <p:pic>
        <p:nvPicPr>
          <p:cNvPr id="6" name="Picture 5" descr="baseline_catboost_brecha_generalizacion_can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35111"/>
            <a:ext cx="4983480" cy="28046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5047488"/>
            <a:ext cx="2194560" cy="1115568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5138928"/>
            <a:ext cx="1975104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1050" b="1">
                <a:solidFill>
                  <a:srgbClr val="5F5F5F"/>
                </a:solidFill>
                <a:latin typeface="Aptos"/>
              </a:rPr>
              <a:t>OOF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5404104"/>
            <a:ext cx="1975104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0,6520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5797296"/>
            <a:ext cx="1975104" cy="2468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860" b="0">
                <a:solidFill>
                  <a:srgbClr val="5F5F5F"/>
                </a:solidFill>
                <a:latin typeface="Aptos"/>
              </a:rPr>
              <a:t>validación interna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5047488"/>
            <a:ext cx="2194560" cy="1115568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5138928"/>
            <a:ext cx="1975104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1050" b="1">
                <a:solidFill>
                  <a:srgbClr val="5F5F5F"/>
                </a:solidFill>
                <a:latin typeface="Aptos"/>
              </a:rPr>
              <a:t>Público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5404104"/>
            <a:ext cx="1975104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0,36930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5797296"/>
            <a:ext cx="1975104" cy="2468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860" b="0">
                <a:solidFill>
                  <a:srgbClr val="5F5F5F"/>
                </a:solidFill>
                <a:latin typeface="Aptos"/>
              </a:rPr>
              <a:t>Kaggle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5047488"/>
            <a:ext cx="2194560" cy="1115568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4728" y="5138928"/>
            <a:ext cx="1975104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1050" b="1">
                <a:solidFill>
                  <a:srgbClr val="5F5F5F"/>
                </a:solidFill>
                <a:latin typeface="Aptos"/>
              </a:rPr>
              <a:t>RMSE 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4728" y="5404104"/>
            <a:ext cx="1975104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14,743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728" y="5797296"/>
            <a:ext cx="1975104" cy="2468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860" b="0">
                <a:solidFill>
                  <a:srgbClr val="5F5F5F"/>
                </a:solidFill>
                <a:latin typeface="Aptos"/>
              </a:rPr>
              <a:t>GroupKFold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5047488"/>
            <a:ext cx="2194560" cy="1115568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7" y="5138928"/>
            <a:ext cx="1975104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1050" b="1">
                <a:solidFill>
                  <a:srgbClr val="5F5F5F"/>
                </a:solidFill>
                <a:latin typeface="Aptos"/>
              </a:rPr>
              <a:t>Lookup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7" y="5404104"/>
            <a:ext cx="1975104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800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5797296"/>
            <a:ext cx="1975104" cy="2468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rmAutofit/>
          </a:bodyPr>
          <a:lstStyle/>
          <a:p>
            <a:pPr algn="ctr"/>
            <a:r>
              <a:rPr sz="860" b="0">
                <a:solidFill>
                  <a:srgbClr val="5F5F5F"/>
                </a:solidFill>
                <a:latin typeface="Aptos"/>
              </a:rPr>
              <a:t>filas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ptos"/>
              </a:rPr>
              <a:t>Selección de modelos: estrategia y pruebas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meline_todos_submits_can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40" y="1051560"/>
            <a:ext cx="65024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078992"/>
            <a:ext cx="4206240" cy="32004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ptos"/>
              </a:rPr>
              <a:t>Cómo se evaluó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536192"/>
            <a:ext cx="4069080" cy="1874519"/>
          </a:xfrm>
          <a:prstGeom prst="rect">
            <a:avLst/>
          </a:prstGeom>
          <a:noFill/>
        </p:spPr>
        <p:txBody>
          <a:bodyPr wrap="square" lIns="73152" rIns="73152" tIns="18288">
            <a:normAutofit/>
          </a:bodyPr>
          <a:lstStyle/>
          <a:p>
            <a:pPr>
              <a:spcAft>
                <a:spcPts val="400"/>
              </a:spcAft>
              <a:defRPr sz="1450">
                <a:solidFill>
                  <a:srgbClr val="000000"/>
                </a:solidFill>
                <a:latin typeface="Aptos"/>
              </a:defRPr>
            </a:pPr>
            <a:r>
              <a:t>GroupKFold por track_id para comparar modelos sin leakage.</a:t>
            </a:r>
          </a:p>
          <a:p>
            <a:pPr>
              <a:spcAft>
                <a:spcPts val="400"/>
              </a:spcAft>
              <a:defRPr sz="1450">
                <a:solidFill>
                  <a:srgbClr val="000000"/>
                </a:solidFill>
                <a:latin typeface="Aptos"/>
              </a:defRPr>
            </a:pPr>
            <a:r>
              <a:t>Leaderboard público como control externo del drift.</a:t>
            </a:r>
          </a:p>
          <a:p>
            <a:pPr>
              <a:spcAft>
                <a:spcPts val="400"/>
              </a:spcAft>
              <a:defRPr sz="1450">
                <a:solidFill>
                  <a:srgbClr val="000000"/>
                </a:solidFill>
                <a:latin typeface="Aptos"/>
              </a:defRPr>
            </a:pPr>
            <a:r>
              <a:t>Cambios graduales: una hipótesis por vez.</a:t>
            </a:r>
          </a:p>
          <a:p>
            <a:pPr>
              <a:spcAft>
                <a:spcPts val="400"/>
              </a:spcAft>
              <a:defRPr sz="1450">
                <a:solidFill>
                  <a:srgbClr val="000000"/>
                </a:solidFill>
                <a:latin typeface="Aptos"/>
              </a:defRPr>
            </a:pPr>
            <a:r>
              <a:t>Registro exacto de cada submit y R2 público.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3703320"/>
            <a:ext cx="4206240" cy="32004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ptos"/>
              </a:rPr>
              <a:t>Qué se probó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133087"/>
            <a:ext cx="4069080" cy="1645920"/>
          </a:xfrm>
          <a:prstGeom prst="rect">
            <a:avLst/>
          </a:prstGeom>
          <a:noFill/>
        </p:spPr>
        <p:txBody>
          <a:bodyPr wrap="square" lIns="73152" rIns="73152" tIns="18288">
            <a:normAutofit/>
          </a:bodyPr>
          <a:lstStyle/>
          <a:p>
            <a:pPr>
              <a:spcAft>
                <a:spcPts val="400"/>
              </a:spcAft>
              <a:defRPr sz="1450">
                <a:solidFill>
                  <a:srgbClr val="000000"/>
                </a:solidFill>
                <a:latin typeface="Aptos"/>
              </a:defRPr>
            </a:pPr>
            <a:r>
              <a:t>CatBoost base, top 60, top 90 y top 120.</a:t>
            </a:r>
          </a:p>
          <a:p>
            <a:pPr>
              <a:spcAft>
                <a:spcPts val="400"/>
              </a:spcAft>
              <a:defRPr sz="1450">
                <a:solidFill>
                  <a:srgbClr val="000000"/>
                </a:solidFill>
                <a:latin typeface="Aptos"/>
              </a:defRPr>
            </a:pPr>
            <a:r>
              <a:t>LightGBM y ExtraTrees como diversidad.</a:t>
            </a:r>
          </a:p>
          <a:p>
            <a:pPr>
              <a:spcAft>
                <a:spcPts val="400"/>
              </a:spcAft>
              <a:defRPr sz="1450">
                <a:solidFill>
                  <a:srgbClr val="000000"/>
                </a:solidFill>
                <a:latin typeface="Aptos"/>
              </a:defRPr>
            </a:pPr>
            <a:r>
              <a:t>Postprocesos y reglas por subgénero.</a:t>
            </a:r>
          </a:p>
          <a:p>
            <a:pPr>
              <a:spcAft>
                <a:spcPts val="400"/>
              </a:spcAft>
              <a:defRPr sz="1450">
                <a:solidFill>
                  <a:srgbClr val="000000"/>
                </a:solidFill>
                <a:latin typeface="Aptos"/>
              </a:defRPr>
            </a:pPr>
            <a:r>
              <a:t>Probes de leaderboard para competencia.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744200" cy="36576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ctr"/>
            <a:r>
              <a:rPr sz="1450" b="1">
                <a:solidFill>
                  <a:srgbClr val="000000"/>
                </a:solidFill>
                <a:latin typeface="Aptos"/>
              </a:rPr>
              <a:t>El gráfico resume la evolución completa: primero modelos, después ensambles y finalmente ajustes más específicos.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ptos"/>
              </a:rPr>
              <a:t>Modelo final reproducible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972800" cy="32004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Aptos"/>
              </a:rPr>
              <a:t>Ensamble CatBoost + ExtraTrees con postprocesamiento determinístico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2423160" cy="1078992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91640"/>
            <a:ext cx="2203704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050" b="1">
                <a:solidFill>
                  <a:srgbClr val="5F5F5F"/>
                </a:solidFill>
                <a:latin typeface="Aptos"/>
              </a:rPr>
              <a:t>R2 público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956816"/>
            <a:ext cx="220370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0,39740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50008"/>
            <a:ext cx="2203704" cy="246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60" b="0">
                <a:solidFill>
                  <a:srgbClr val="5F5F5F"/>
                </a:solidFill>
                <a:latin typeface="Aptos"/>
              </a:rPr>
              <a:t>Kaggle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423160" cy="1078992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691640"/>
            <a:ext cx="2203704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050" b="1">
                <a:solidFill>
                  <a:srgbClr val="5F5F5F"/>
                </a:solidFill>
                <a:latin typeface="Aptos"/>
              </a:rPr>
              <a:t>Base predictiva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1956816"/>
            <a:ext cx="220370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CatBoost + 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350008"/>
            <a:ext cx="2203704" cy="246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60" b="0">
                <a:solidFill>
                  <a:srgbClr val="5F5F5F"/>
                </a:solidFill>
                <a:latin typeface="Aptos"/>
              </a:rPr>
              <a:t>ranking preservado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2423160" cy="1078992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1691640"/>
            <a:ext cx="2203704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050" b="1">
                <a:solidFill>
                  <a:srgbClr val="5F5F5F"/>
                </a:solidFill>
                <a:latin typeface="Aptos"/>
              </a:rPr>
              <a:t>Ajuste final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56816"/>
            <a:ext cx="220370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2 reglas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50008"/>
            <a:ext cx="2203704" cy="246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60" b="0">
                <a:solidFill>
                  <a:srgbClr val="5F5F5F"/>
                </a:solidFill>
                <a:latin typeface="Aptos"/>
              </a:rPr>
              <a:t>subgéneros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600200"/>
            <a:ext cx="2423160" cy="1078992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33688" y="1691640"/>
            <a:ext cx="2203704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050" b="1">
                <a:solidFill>
                  <a:srgbClr val="5F5F5F"/>
                </a:solidFill>
                <a:latin typeface="Aptos"/>
              </a:rPr>
              <a:t>Rol del modelo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1956816"/>
            <a:ext cx="220370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Entregable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2350008"/>
            <a:ext cx="2203704" cy="246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60" b="0">
                <a:solidFill>
                  <a:srgbClr val="5F5F5F"/>
                </a:solidFill>
                <a:latin typeface="Aptos"/>
              </a:rPr>
              <a:t>pipeline reproducible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880360"/>
            <a:ext cx="5486400" cy="2971800"/>
          </a:xfrm>
          <a:prstGeom prst="rect">
            <a:avLst/>
          </a:prstGeom>
          <a:noFill/>
        </p:spPr>
        <p:txBody>
          <a:bodyPr wrap="square" lIns="73152" rIns="73152" tIns="18288">
            <a:normAutofit/>
          </a:bodyPr>
          <a:lstStyle/>
          <a:p>
            <a:pPr>
              <a:spcAft>
                <a:spcPts val="400"/>
              </a:spcAft>
              <a:defRPr sz="1480">
                <a:solidFill>
                  <a:srgbClr val="000000"/>
                </a:solidFill>
                <a:latin typeface="Aptos"/>
              </a:defRPr>
            </a:pPr>
            <a:r>
              <a:t>Primero se tomó CatBoost top 60 porque fue el mejor modelo puro en el leaderboard.</a:t>
            </a:r>
          </a:p>
          <a:p>
            <a:pPr>
              <a:spcAft>
                <a:spcPts val="400"/>
              </a:spcAft>
              <a:defRPr sz="1480">
                <a:solidFill>
                  <a:srgbClr val="000000"/>
                </a:solidFill>
                <a:latin typeface="Aptos"/>
              </a:defRPr>
            </a:pPr>
            <a:r>
              <a:t>Luego se entrenaron tres ExtraTrees con distinta cantidad de variables numéricas: top 45, top 70 y top 100.</a:t>
            </a:r>
          </a:p>
          <a:p>
            <a:pPr>
              <a:spcAft>
                <a:spcPts val="400"/>
              </a:spcAft>
              <a:defRPr sz="1480">
                <a:solidFill>
                  <a:srgbClr val="000000"/>
                </a:solidFill>
                <a:latin typeface="Aptos"/>
              </a:defRPr>
            </a:pPr>
            <a:r>
              <a:t>ExtraTrees no se usó porque ganara solo, sino porque ordenaba distinto algunas canciones no vistas.</a:t>
            </a:r>
          </a:p>
          <a:p>
            <a:pPr>
              <a:spcAft>
                <a:spcPts val="400"/>
              </a:spcAft>
              <a:defRPr sz="1480">
                <a:solidFill>
                  <a:srgbClr val="000000"/>
                </a:solidFill>
                <a:latin typeface="Aptos"/>
              </a:defRPr>
            </a:pPr>
            <a:r>
              <a:t>El ensamble final preserva la distribución del mejor CatBoost y usa ExtraTrees para reordenar filas no vistas.</a:t>
            </a:r>
          </a:p>
          <a:p>
            <a:pPr>
              <a:spcAft>
                <a:spcPts val="400"/>
              </a:spcAft>
              <a:defRPr sz="1480">
                <a:solidFill>
                  <a:srgbClr val="000000"/>
                </a:solidFill>
                <a:latin typeface="Aptos"/>
              </a:defRPr>
            </a:pPr>
            <a:r>
              <a:t>Finalmente se aplicaron ajustes fijos sobre neo soul y progressive electro house, que eran subgrupos con error sistemático.</a:t>
            </a:r>
          </a:p>
        </p:txBody>
      </p:sp>
      <p:pic>
        <p:nvPicPr>
          <p:cNvPr id="22" name="Picture 21" descr="feature_importance_catboost_can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0" y="2971800"/>
            <a:ext cx="4226560" cy="23774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92240" y="5623560"/>
            <a:ext cx="4800600" cy="50292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ctr"/>
            <a:r>
              <a:rPr sz="1450" b="1">
                <a:solidFill>
                  <a:srgbClr val="000000"/>
                </a:solidFill>
                <a:latin typeface="Aptos"/>
              </a:rPr>
              <a:t>Este es el modelo más defendible para la entrega porque se puede reproducir como pipeline predictivo.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ptos"/>
              </a:rPr>
              <a:t>Mejor modelo de competencia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606040" cy="1115568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188720"/>
            <a:ext cx="2386584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050" b="1">
                <a:solidFill>
                  <a:srgbClr val="5F5F5F"/>
                </a:solidFill>
                <a:latin typeface="Aptos"/>
              </a:rPr>
              <a:t>R2 público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53896"/>
            <a:ext cx="238658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0,46155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47088"/>
            <a:ext cx="2386584" cy="246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60" b="0">
                <a:solidFill>
                  <a:srgbClr val="5F5F5F"/>
                </a:solidFill>
                <a:latin typeface="Aptos"/>
              </a:rPr>
              <a:t>Kaggle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097280"/>
            <a:ext cx="2606040" cy="1115568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7328" y="1188720"/>
            <a:ext cx="2386584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050" b="1">
                <a:solidFill>
                  <a:srgbClr val="5F5F5F"/>
                </a:solidFill>
                <a:latin typeface="Aptos"/>
              </a:rPr>
              <a:t>Base predictiva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1453896"/>
            <a:ext cx="238658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Submits previos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1847088"/>
            <a:ext cx="2386584" cy="246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60" b="0">
                <a:solidFill>
                  <a:srgbClr val="5F5F5F"/>
                </a:solidFill>
                <a:latin typeface="Aptos"/>
              </a:rPr>
              <a:t>predicciones históricas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097280"/>
            <a:ext cx="2606040" cy="1115568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1188720"/>
            <a:ext cx="2386584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050" b="1">
                <a:solidFill>
                  <a:srgbClr val="5F5F5F"/>
                </a:solidFill>
                <a:latin typeface="Aptos"/>
              </a:rPr>
              <a:t>Ajuste final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1453896"/>
            <a:ext cx="238658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Solver LB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1847088"/>
            <a:ext cx="2386584" cy="246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60" b="0">
                <a:solidFill>
                  <a:srgbClr val="5F5F5F"/>
                </a:solidFill>
                <a:latin typeface="Aptos"/>
              </a:rPr>
              <a:t>calibración pública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097280"/>
            <a:ext cx="1965960" cy="1115568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19488" y="1188720"/>
            <a:ext cx="1746504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050" b="1">
                <a:solidFill>
                  <a:srgbClr val="5F5F5F"/>
                </a:solidFill>
                <a:latin typeface="Aptos"/>
              </a:rPr>
              <a:t>Rol del modelo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9488" y="1453896"/>
            <a:ext cx="174650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Competencia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9488" y="1847088"/>
            <a:ext cx="1746504" cy="246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ctr"/>
            <a:r>
              <a:rPr sz="860" b="0">
                <a:solidFill>
                  <a:srgbClr val="5F5F5F"/>
                </a:solidFill>
                <a:latin typeface="Aptos"/>
              </a:rPr>
              <a:t>mejor score público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68880"/>
            <a:ext cx="5257800" cy="32004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Aptos"/>
              </a:rPr>
              <a:t>Cómo funciona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907792"/>
            <a:ext cx="5166360" cy="2560320"/>
          </a:xfrm>
          <a:prstGeom prst="rect">
            <a:avLst/>
          </a:prstGeom>
          <a:noFill/>
        </p:spPr>
        <p:txBody>
          <a:bodyPr wrap="square" lIns="73152" rIns="73152" tIns="18288">
            <a:normAutofit/>
          </a:bodyPr>
          <a:lstStyle/>
          <a:p>
            <a:pPr>
              <a:spcAft>
                <a:spcPts val="400"/>
              </a:spcAft>
              <a:defRPr sz="1530">
                <a:solidFill>
                  <a:srgbClr val="000000"/>
                </a:solidFill>
                <a:latin typeface="Aptos"/>
              </a:defRPr>
            </a:pPr>
            <a:r>
              <a:t>Parte de muchos submits generados por los modelos anteriores.</a:t>
            </a:r>
          </a:p>
          <a:p>
            <a:pPr>
              <a:spcAft>
                <a:spcPts val="400"/>
              </a:spcAft>
              <a:defRPr sz="1530">
                <a:solidFill>
                  <a:srgbClr val="000000"/>
                </a:solidFill>
                <a:latin typeface="Aptos"/>
              </a:defRPr>
            </a:pPr>
            <a:r>
              <a:t>Cada submit es una predicción distinta para las mismas 6.567 canciones.</a:t>
            </a:r>
          </a:p>
          <a:p>
            <a:pPr>
              <a:spcAft>
                <a:spcPts val="400"/>
              </a:spcAft>
              <a:defRPr sz="1530">
                <a:solidFill>
                  <a:srgbClr val="000000"/>
                </a:solidFill>
                <a:latin typeface="Aptos"/>
              </a:defRPr>
            </a:pPr>
            <a:r>
              <a:t>Con los R2 públicos se estima qué direcciones de cambio acercan las predicciones al test público.</a:t>
            </a:r>
          </a:p>
          <a:p>
            <a:pPr>
              <a:spcAft>
                <a:spcPts val="400"/>
              </a:spcAft>
              <a:defRPr sz="1530">
                <a:solidFill>
                  <a:srgbClr val="000000"/>
                </a:solidFill>
                <a:latin typeface="Aptos"/>
              </a:defRPr>
            </a:pPr>
            <a:r>
              <a:t>El resultado final es una combinación calibrada de esas predicciones.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68880"/>
            <a:ext cx="4892040" cy="32004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Aptos"/>
              </a:rPr>
              <a:t>Cómo interpretarlo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907792"/>
            <a:ext cx="4800600" cy="2560320"/>
          </a:xfrm>
          <a:prstGeom prst="rect">
            <a:avLst/>
          </a:prstGeom>
          <a:noFill/>
        </p:spPr>
        <p:txBody>
          <a:bodyPr wrap="square" lIns="73152" rIns="73152" tIns="18288">
            <a:normAutofit/>
          </a:bodyPr>
          <a:lstStyle/>
          <a:p>
            <a:pPr>
              <a:spcAft>
                <a:spcPts val="400"/>
              </a:spcAft>
              <a:defRPr sz="1530">
                <a:solidFill>
                  <a:srgbClr val="000000"/>
                </a:solidFill>
                <a:latin typeface="Aptos"/>
              </a:defRPr>
            </a:pPr>
            <a:r>
              <a:t>Es el mejor resultado competitivo porque aprovecha información del leaderboard.</a:t>
            </a:r>
          </a:p>
          <a:p>
            <a:pPr>
              <a:spcAft>
                <a:spcPts val="400"/>
              </a:spcAft>
              <a:defRPr sz="1530">
                <a:solidFill>
                  <a:srgbClr val="000000"/>
                </a:solidFill>
                <a:latin typeface="Aptos"/>
              </a:defRPr>
            </a:pPr>
            <a:r>
              <a:t>Funciona muy bien para este test específico.</a:t>
            </a:r>
          </a:p>
          <a:p>
            <a:pPr>
              <a:spcAft>
                <a:spcPts val="400"/>
              </a:spcAft>
              <a:defRPr sz="1530">
                <a:solidFill>
                  <a:srgbClr val="000000"/>
                </a:solidFill>
                <a:latin typeface="Aptos"/>
              </a:defRPr>
            </a:pPr>
            <a:r>
              <a:t>Su principal riesgo es sobreajustar al subconjunto público.</a:t>
            </a:r>
          </a:p>
          <a:p>
            <a:pPr>
              <a:spcAft>
                <a:spcPts val="400"/>
              </a:spcAft>
              <a:defRPr sz="1530">
                <a:solidFill>
                  <a:srgbClr val="000000"/>
                </a:solidFill>
                <a:latin typeface="Aptos"/>
              </a:defRPr>
            </a:pPr>
            <a:r>
              <a:t>Por eso se reporta junto al pipeline reproducible para mostrar ambas miradas: robustez y performance.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97880"/>
            <a:ext cx="10332720" cy="36576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ptos"/>
              </a:rPr>
              <a:t>Resumen: el modelo reproducible explica el proceso predictivo; el modelo de competencia maximiza el resultado público.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ptos"/>
              </a:rPr>
              <a:t>Limitaciones y posibles mejoras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5257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Aptos"/>
              </a:rPr>
              <a:t>Limitaciones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81328"/>
            <a:ext cx="5074920" cy="2331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l">
              <a:spcAft>
                <a:spcPts val="400"/>
              </a:spcAft>
              <a:defRPr sz="1530">
                <a:solidFill>
                  <a:srgbClr val="000000"/>
                </a:solidFill>
                <a:latin typeface="Aptos"/>
              </a:defRPr>
            </a:pPr>
            <a:r>
              <a:rPr sz="1420" b="0">
                <a:solidFill>
                  <a:srgbClr val="000000"/>
                </a:solidFill>
                <a:latin typeface="Aptos"/>
              </a:rPr>
              <a:t>Drift fuerte entre train y test: aparecen géneros y subgéneros casi ausentes en entrenamiento.
El leaderboard público cubre solo una parte del test y puede favorecer ajustes demasiado específicos.
La validación interna no replica del todo la lógica pública de Kaggle.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5257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Aptos"/>
              </a:rPr>
              <a:t>Posibles mejoras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4808" y="1481328"/>
            <a:ext cx="5074920" cy="2331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l">
              <a:spcAft>
                <a:spcPts val="400"/>
              </a:spcAft>
              <a:defRPr sz="1530">
                <a:solidFill>
                  <a:srgbClr val="000000"/>
                </a:solidFill>
                <a:latin typeface="Aptos"/>
              </a:defRPr>
            </a:pPr>
            <a:r>
              <a:rPr sz="1420" b="0">
                <a:solidFill>
                  <a:srgbClr val="000000"/>
                </a:solidFill>
                <a:latin typeface="Aptos"/>
              </a:rPr>
              <a:t>Diseñar una validación más parecida al test público usando cortes por artista, género y subgénero.
Automatizar reglas de corrección para no depender de decisiones manuales puntuales.
Explorar datos externos y modelos especializados para categorías nuevas o con poco historial.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315968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480559"/>
            <a:ext cx="3099816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ptos"/>
              </a:rPr>
              <a:t>Limitación crítica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232323"/>
                </a:solidFill>
                <a:latin typeface="Aptos"/>
              </a:rPr>
              <a:t>El cambio de distribución fue el cuello de botella principal.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79" y="4315968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1" y="4480559"/>
            <a:ext cx="3099816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ptos"/>
              </a:rPr>
              <a:t>Riesgo del mejor score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232323"/>
                </a:solidFill>
                <a:latin typeface="Aptos"/>
              </a:rPr>
              <a:t>Puede estar optimizado al subconjunto público del leaderboard.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19" y="4315968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1" y="4480559"/>
            <a:ext cx="3099816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ptos"/>
              </a:rPr>
              <a:t>Mejora prioritaria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232323"/>
                </a:solidFill>
                <a:latin typeface="Aptos"/>
              </a:rPr>
              <a:t>Validación de drift antes de seguir sumando modelos.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ptos"/>
              </a:rPr>
              <a:t>Cierre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32720" cy="64008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ctr"/>
            <a:r>
              <a:rPr sz="2500" b="0">
                <a:solidFill>
                  <a:srgbClr val="000000"/>
                </a:solidFill>
                <a:latin typeface="Aptos"/>
              </a:rPr>
              <a:t>El desafío no fue solo entrenar un modelo con buena CV, sino adaptarse a un test con distribución distinta.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2788920"/>
            <a:ext cx="2971800" cy="1143000"/>
          </a:xfrm>
          <a:prstGeom prst="roundRect">
            <a:avLst/>
          </a:prstGeom>
          <a:solidFill>
            <a:srgbClr val="F8F8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2889503"/>
            <a:ext cx="2752344" cy="201168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ptos"/>
              </a:rP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3154679"/>
            <a:ext cx="2752344" cy="41148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Aptos"/>
              </a:rPr>
              <a:t>0,36930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3584448"/>
            <a:ext cx="2752344" cy="22860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919" b="0">
                <a:solidFill>
                  <a:srgbClr val="000000"/>
                </a:solidFill>
                <a:latin typeface="Aptos"/>
              </a:rPr>
              <a:t>CatBoost inicial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788920"/>
            <a:ext cx="2971800" cy="1143000"/>
          </a:xfrm>
          <a:prstGeom prst="roundRect">
            <a:avLst/>
          </a:prstGeom>
          <a:solidFill>
            <a:srgbClr val="F8F8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2889503"/>
            <a:ext cx="2752344" cy="201168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ptos"/>
              </a:rPr>
              <a:t>Modelo reproducible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3154679"/>
            <a:ext cx="2752344" cy="41148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Aptos"/>
              </a:rPr>
              <a:t>0,39740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3584448"/>
            <a:ext cx="2752344" cy="22860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919" b="0">
                <a:solidFill>
                  <a:srgbClr val="000000"/>
                </a:solidFill>
                <a:latin typeface="Aptos"/>
              </a:rPr>
              <a:t>entrega principal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788920"/>
            <a:ext cx="2971800" cy="1143000"/>
          </a:xfrm>
          <a:prstGeom prst="roundRect">
            <a:avLst/>
          </a:prstGeom>
          <a:solidFill>
            <a:srgbClr val="F8F8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7" y="2889503"/>
            <a:ext cx="2752344" cy="201168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ptos"/>
              </a:rPr>
              <a:t>Mejor competencia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7" y="3154679"/>
            <a:ext cx="2752344" cy="41148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Aptos"/>
              </a:rPr>
              <a:t>0,46155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7" y="3584448"/>
            <a:ext cx="2752344" cy="22860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l"/>
            <a:r>
              <a:rPr sz="919" b="0">
                <a:solidFill>
                  <a:srgbClr val="000000"/>
                </a:solidFill>
                <a:latin typeface="Aptos"/>
              </a:rPr>
              <a:t>performance máxima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349240"/>
            <a:ext cx="10378440" cy="502920"/>
          </a:xfrm>
          <a:prstGeom prst="rect">
            <a:avLst/>
          </a:prstGeom>
          <a:noFill/>
        </p:spPr>
        <p:txBody>
          <a:bodyPr wrap="square" anchor="t" lIns="18288" rIns="18288">
            <a:norm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ptos"/>
              </a:rPr>
              <a:t>La entrega muestra dos miradas: un pipeline defendible y reproducible, y una versión competitiva optimizada para el leaderboard.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