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0080"/>
            <a:ext cx="10972800" cy="59436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Aptos"/>
              </a:rPr>
              <a:t>Predicción de popularidad musical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325880"/>
            <a:ext cx="9875520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2000" b="0">
                <a:solidFill>
                  <a:srgbClr val="000000"/>
                </a:solidFill>
                <a:latin typeface="Aptos"/>
              </a:rPr>
              <a:t>Modelado, selección y resultados finales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788920"/>
            <a:ext cx="3017520" cy="11430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889503"/>
            <a:ext cx="2798063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3154679"/>
            <a:ext cx="2798063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0,36930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584448"/>
            <a:ext cx="2798063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R2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788920"/>
            <a:ext cx="3017520" cy="11430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889503"/>
            <a:ext cx="2798063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Modelo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79"/>
            <a:ext cx="2798063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0,39740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584448"/>
            <a:ext cx="2798063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pipeline final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788920"/>
            <a:ext cx="3017520" cy="11430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2889503"/>
            <a:ext cx="2798063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Mejor competencia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154679"/>
            <a:ext cx="2798063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0,46155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3584448"/>
            <a:ext cx="2798063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ensamble calibrado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669280"/>
            <a:ext cx="10241280" cy="4572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Aptos"/>
              </a:rPr>
              <a:t>Objetivo: explicar qué modelos se probaron, cómo se eligieron y qué limitaciones quedaron.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Problema y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2194560" cy="96012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9786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Regresión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92807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track_popularity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097280"/>
            <a:ext cx="2194560" cy="96012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119786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8" y="146304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26.266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892807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filas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097280"/>
            <a:ext cx="2194560" cy="96012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3328" y="119786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46304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6.567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892807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filas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097280"/>
            <a:ext cx="2194560" cy="96012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9367" y="119786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Métrica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9367" y="146304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R2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9367" y="1892807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leaderboard público</a:t>
            </a:r>
          </a:p>
        </p:txBody>
      </p:sp>
      <p:pic>
        <p:nvPicPr>
          <p:cNvPr id="20" name="Picture 19" descr="eda_shift_generos_train_test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5120640" cy="2880360"/>
          </a:xfrm>
          <a:prstGeom prst="rect">
            <a:avLst/>
          </a:prstGeom>
        </p:spPr>
      </p:pic>
      <p:pic>
        <p:nvPicPr>
          <p:cNvPr id="21" name="Picture 20" descr="eda_popularidad_subgenero_can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37460"/>
            <a:ext cx="5120640" cy="28803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806440"/>
            <a:ext cx="10561320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ptos"/>
              </a:rPr>
              <a:t>El principal desafío fue el cambio de distribución entre train y test: no alcanzaba con mirar solo la validación interna.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Features y preparación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Qué se construyó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257800" cy="425196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Variables de audio originales: danceability, energy, valence, tempo, loudness, etc.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Variables temporales desde la fecha del álbum: año, mes, década, antigüedad y fecha parcial.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Variables de duración e interacciones: duración en minutos, log, energy x danceability, valence x energy.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Contexto musical: género, subgénero, artista, álbum, playlist y combinaciones.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Frequency encoding para categorías nuevas y target encoding OOF para evitar leakage.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Lookup por track_id: si una canción del test ya estaba en train, se usó su popularidad observada.</a:t>
            </a:r>
          </a:p>
        </p:txBody>
      </p:sp>
      <p:pic>
        <p:nvPicPr>
          <p:cNvPr id="6" name="Picture 5" descr="feature_engineering_variables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47976"/>
            <a:ext cx="4937760" cy="27789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46520" y="4251960"/>
            <a:ext cx="4892040" cy="9601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Aptos"/>
              </a:rPr>
              <a:t>La idea fue que el modelo no dependiera de una sola señal. Se combinó audio + contexto + tiempo + robustez frente a categorías no vistas.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440680"/>
            <a:ext cx="2057400" cy="82296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6248" y="5541264"/>
            <a:ext cx="1837943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5806440"/>
            <a:ext cx="1837943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170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6236208"/>
            <a:ext cx="1837943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aprox.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5440680"/>
            <a:ext cx="2057400" cy="82296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33688" y="5541264"/>
            <a:ext cx="1837943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3688" y="5806440"/>
            <a:ext cx="1837943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688" y="6236208"/>
            <a:ext cx="1837943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filas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Modelo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521208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ptos"/>
              </a:rPr>
              <a:t>Baseline: CatBoost inicial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257800" cy="333756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550">
                <a:solidFill>
                  <a:srgbClr val="000000"/>
                </a:solidFill>
                <a:latin typeface="Aptos"/>
              </a:defRPr>
            </a:pPr>
            <a:r>
              <a:t>Se usó como punto de referencia porque entrena rápido y maneja bien variables numéricas y categóricas.</a:t>
            </a:r>
          </a:p>
          <a:p>
            <a:pPr>
              <a:spcAft>
                <a:spcPts val="400"/>
              </a:spcAft>
              <a:defRPr sz="1550">
                <a:solidFill>
                  <a:srgbClr val="000000"/>
                </a:solidFill>
                <a:latin typeface="Aptos"/>
              </a:defRPr>
            </a:pPr>
            <a:r>
              <a:t>Tomó 157 features procesadas del feature engineering.</a:t>
            </a:r>
          </a:p>
          <a:p>
            <a:pPr>
              <a:spcAft>
                <a:spcPts val="400"/>
              </a:spcAft>
              <a:defRPr sz="1550">
                <a:solidFill>
                  <a:srgbClr val="000000"/>
                </a:solidFill>
                <a:latin typeface="Aptos"/>
              </a:defRPr>
            </a:pPr>
            <a:r>
              <a:t>Usó categóricas directas como género, subgénero, key, mode y combinaciones.</a:t>
            </a:r>
          </a:p>
          <a:p>
            <a:pPr>
              <a:spcAft>
                <a:spcPts val="400"/>
              </a:spcAft>
              <a:defRPr sz="1550">
                <a:solidFill>
                  <a:srgbClr val="000000"/>
                </a:solidFill>
                <a:latin typeface="Aptos"/>
              </a:defRPr>
            </a:pPr>
            <a:r>
              <a:t>Validación con GroupKFold por track_id para no validar con canciones repetidas.</a:t>
            </a:r>
          </a:p>
          <a:p>
            <a:pPr>
              <a:spcAft>
                <a:spcPts val="400"/>
              </a:spcAft>
              <a:defRPr sz="1550">
                <a:solidFill>
                  <a:srgbClr val="000000"/>
                </a:solidFill>
                <a:latin typeface="Aptos"/>
              </a:defRPr>
            </a:pPr>
            <a:r>
              <a:t>Aplicó el lookup de canciones ya vistas en train.</a:t>
            </a:r>
          </a:p>
        </p:txBody>
      </p:sp>
      <p:pic>
        <p:nvPicPr>
          <p:cNvPr id="6" name="Picture 5" descr="baseline_catboost_brecha_generalizacion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35111"/>
            <a:ext cx="4983480" cy="280469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5166360"/>
            <a:ext cx="21945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26694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OOF 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553212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0,6520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5961888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validación interna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5166360"/>
            <a:ext cx="21945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526694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553212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0,36930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5961888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Kaggle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5166360"/>
            <a:ext cx="21945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8" y="526694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RMSE 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4728" y="553212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14,743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4728" y="5961888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GroupKFold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5166360"/>
            <a:ext cx="21945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7" y="5266944"/>
            <a:ext cx="19751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7" y="5532120"/>
            <a:ext cx="19751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7" y="5961888"/>
            <a:ext cx="19751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filas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Selección de modelos: estrategia y pruebas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eline_todos_submits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40" y="1051560"/>
            <a:ext cx="65024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078992"/>
            <a:ext cx="420624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Aptos"/>
              </a:rPr>
              <a:t>Cómo se evaluó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36192"/>
            <a:ext cx="4069080" cy="1874519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GroupKFold por track_id para comparar modelos sin leakage.</a:t>
            </a:r>
          </a:p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Leaderboard público como control externo del drift.</a:t>
            </a:r>
          </a:p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Cambios graduales: una hipótesis por vez.</a:t>
            </a:r>
          </a:p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Registro exacto de cada submit y R2 público.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3703320"/>
            <a:ext cx="420624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Aptos"/>
              </a:rPr>
              <a:t>Qué se probó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133087"/>
            <a:ext cx="4069080" cy="164592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CatBoost base, top 60, top 90 y top 120.</a:t>
            </a:r>
          </a:p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LightGBM y ExtraTrees como diversidad.</a:t>
            </a:r>
          </a:p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Postprocesos y reglas por subgénero.</a:t>
            </a:r>
          </a:p>
          <a:p>
            <a:pPr>
              <a:spcAft>
                <a:spcPts val="400"/>
              </a:spcAft>
              <a:defRPr sz="1450">
                <a:solidFill>
                  <a:srgbClr val="000000"/>
                </a:solidFill>
                <a:latin typeface="Aptos"/>
              </a:defRPr>
            </a:pPr>
            <a:r>
              <a:t>Probes de leaderboard para competencia.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44200" cy="36576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1450" b="1">
                <a:solidFill>
                  <a:srgbClr val="000000"/>
                </a:solidFill>
                <a:latin typeface="Aptos"/>
              </a:rPr>
              <a:t>El gráfico resume la evolución completa: primero modelos, después ensambles y finalmente ajustes más específicos.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Modelo final reproducible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97280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Ensamble CatBoost + ExtraTrees con postprocesamiento determinístico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4231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00784"/>
            <a:ext cx="22037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R2 público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22037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0,39740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22037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modelo entregable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00200"/>
            <a:ext cx="24231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700784"/>
            <a:ext cx="22037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CatBoost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965960"/>
            <a:ext cx="22037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top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395728"/>
            <a:ext cx="22037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66 features finales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00200"/>
            <a:ext cx="24231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8" y="1700784"/>
            <a:ext cx="22037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ExtraTrees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22037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3 variantes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22037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45, 70 y 100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00200"/>
            <a:ext cx="2423160" cy="86868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33688" y="1700784"/>
            <a:ext cx="22037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Postproceso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3688" y="1965960"/>
            <a:ext cx="22037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2 reglas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395728"/>
            <a:ext cx="22037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subgéneros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880360"/>
            <a:ext cx="5486400" cy="297180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Primero se tomó CatBoost top 60 porque fue el mejor modelo puro en el leaderboard.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Luego se entrenaron tres ExtraTrees con distinta cantidad de variables numéricas: top 45, top 70 y top 100.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ExtraTrees no se usó porque ganara solo, sino porque ordenaba distinto algunas canciones no vistas.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El ensamble final preserva la distribución del mejor CatBoost y usa ExtraTrees para reordenar filas no vistas.</a:t>
            </a:r>
          </a:p>
          <a:p>
            <a:pPr>
              <a:spcAft>
                <a:spcPts val="400"/>
              </a:spcAft>
              <a:defRPr sz="1480">
                <a:solidFill>
                  <a:srgbClr val="000000"/>
                </a:solidFill>
                <a:latin typeface="Aptos"/>
              </a:defRPr>
            </a:pPr>
            <a:r>
              <a:t>Finalmente se aplicaron ajustes fijos sobre neo soul y progressive electro house, que eran subgrupos con error sistemático.</a:t>
            </a:r>
          </a:p>
        </p:txBody>
      </p:sp>
      <p:pic>
        <p:nvPicPr>
          <p:cNvPr id="22" name="Picture 21" descr="feature_importance_catboost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400" y="2971800"/>
            <a:ext cx="4226560" cy="23774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2240" y="5623560"/>
            <a:ext cx="480060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1450" b="1">
                <a:solidFill>
                  <a:srgbClr val="000000"/>
                </a:solidFill>
                <a:latin typeface="Aptos"/>
              </a:rPr>
              <a:t>Este es el modelo más defendible para la entrega porque se puede reproducir como pipeline predictivo.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Mejor modelo de competencia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2606040" cy="9144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97864"/>
            <a:ext cx="238658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R2 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238658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0,46155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92807"/>
            <a:ext cx="238658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mejor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097280"/>
            <a:ext cx="2606040" cy="9144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197864"/>
            <a:ext cx="238658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1463040"/>
            <a:ext cx="238658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submits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1892807"/>
            <a:ext cx="238658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predicciones previas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097280"/>
            <a:ext cx="2606040" cy="9144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1197864"/>
            <a:ext cx="238658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Calibración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1463040"/>
            <a:ext cx="238658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1892807"/>
            <a:ext cx="238658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leaderboard público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1097280"/>
            <a:ext cx="1965960" cy="9144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19488" y="1197864"/>
            <a:ext cx="174650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Salida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9488" y="1463040"/>
            <a:ext cx="174650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1892807"/>
            <a:ext cx="174650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final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4688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Cómo funciona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907792"/>
            <a:ext cx="5166360" cy="256032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Parte de muchos submits generados por los modelos anteriores.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Cada submit es una predicción distinta para las mismas 6.567 canciones.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Con los R2 públicos se estima qué direcciones de cambio acercan las predicciones al test público.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El resultado final es una combinación calibrada de esas predicciones.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468880"/>
            <a:ext cx="489204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Cómo interpretarlo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907792"/>
            <a:ext cx="4800600" cy="256032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Es el mejor resultado competitivo porque aprovecha información del leaderboard.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Funciona muy bien para este test específico.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Su principal riesgo es sobreajustar al subconjunto público.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Por eso se reporta junto al pipeline reproducible para mostrar ambas miradas: robustez y performance.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ptos"/>
              </a:rPr>
              <a:t>Resumen: el modelo reproducible explica el proceso predictivo; el modelo de competencia maximiza el resultado público.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Limitaciones y posibles mejoras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87552"/>
            <a:ext cx="512064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ptos"/>
              </a:rPr>
              <a:t>Limitaciones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5074920" cy="324612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Drift fuerte: test tiene géneros/subgéneros casi ausentes en train.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El leaderboard público representa solo una parte del test.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Los ajustes por subgénero dependen de hipótesis manuales.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La validación interna no replica completamente Kaggle.</a:t>
            </a:r>
          </a:p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El modelo de competencia puede sobreajustar al público.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5120640" cy="32004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ptos"/>
              </a:rPr>
              <a:t>Mejoras con más 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21808"/>
            <a:ext cx="5074920" cy="822960"/>
          </a:xfrm>
          <a:prstGeom prst="rect">
            <a:avLst/>
          </a:prstGeom>
          <a:noFill/>
        </p:spPr>
        <p:txBody>
          <a:bodyPr wrap="square" lIns="73152" rIns="73152" tIns="18288">
            <a:normAutofit/>
          </a:bodyPr>
          <a:lstStyle/>
          <a:p>
            <a:pPr>
              <a:spcAft>
                <a:spcPts val="400"/>
              </a:spcAft>
              <a:defRPr sz="1530">
                <a:solidFill>
                  <a:srgbClr val="000000"/>
                </a:solidFill>
                <a:latin typeface="Aptos"/>
              </a:defRPr>
            </a:pPr>
            <a:r>
              <a:t>Mejor validación de drift, datos externos, modelos por subgénero y reglas automatizadas.</a:t>
            </a:r>
          </a:p>
        </p:txBody>
      </p:sp>
      <p:pic>
        <p:nvPicPr>
          <p:cNvPr id="8" name="Picture 7" descr="que_funciono_y_que_no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63659"/>
            <a:ext cx="5074920" cy="2856160"/>
          </a:xfrm>
          <a:prstGeom prst="rect">
            <a:avLst/>
          </a:prstGeom>
        </p:spPr>
      </p:pic>
      <p:pic>
        <p:nvPicPr>
          <p:cNvPr id="9" name="Picture 8" descr="eda_correlaciones_audio_can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500" y="4315968"/>
            <a:ext cx="3088639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ptos"/>
              </a:rPr>
              <a:t>Cierre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6400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2500" b="0">
                <a:solidFill>
                  <a:srgbClr val="000000"/>
                </a:solidFill>
                <a:latin typeface="Aptos"/>
              </a:rPr>
              <a:t>El desafío no fue solo entrenar un modelo con buena CV, sino adaptarse a un test con distribución distinta.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2788920"/>
            <a:ext cx="2971800" cy="11430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889503"/>
            <a:ext cx="275234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154679"/>
            <a:ext cx="275234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0,36930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584448"/>
            <a:ext cx="275234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CatBoost inicial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788920"/>
            <a:ext cx="2971800" cy="11430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889503"/>
            <a:ext cx="275234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Modelo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3154679"/>
            <a:ext cx="275234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0,39740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3584448"/>
            <a:ext cx="275234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entrega principal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788920"/>
            <a:ext cx="2971800" cy="1143000"/>
          </a:xfrm>
          <a:prstGeom prst="roundRect">
            <a:avLst/>
          </a:prstGeom>
          <a:solidFill>
            <a:srgbClr val="F8F8F8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2889503"/>
            <a:ext cx="2752344" cy="201168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ptos"/>
              </a:rPr>
              <a:t>Mejor competencia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3154679"/>
            <a:ext cx="2752344" cy="41148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0,46155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3584448"/>
            <a:ext cx="2752344" cy="22860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l"/>
            <a:r>
              <a:rPr sz="919" b="0">
                <a:solidFill>
                  <a:srgbClr val="000000"/>
                </a:solidFill>
                <a:latin typeface="Aptos"/>
              </a:rPr>
              <a:t>performance máxima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49240"/>
            <a:ext cx="10378440" cy="502920"/>
          </a:xfrm>
          <a:prstGeom prst="rect">
            <a:avLst/>
          </a:prstGeom>
          <a:noFill/>
        </p:spPr>
        <p:txBody>
          <a:bodyPr wrap="square" anchor="t" lIns="18288" rIns="18288">
            <a:norm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ptos"/>
              </a:rPr>
              <a:t>La entrega muestra dos miradas: un pipeline defendible y reproducible, y una versión competitiva optimizada para el leaderboard.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